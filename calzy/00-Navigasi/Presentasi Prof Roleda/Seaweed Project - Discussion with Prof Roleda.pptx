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857b7111c241be" /><Relationship Type="http://schemas.openxmlformats.org/officeDocument/2006/relationships/extended-properties" Target="/docProps/app.xml" Id="Ra5ba544117a243f2" /><Relationship Type="http://schemas.openxmlformats.org/officeDocument/2006/relationships/officeDocument" Target="/ppt/presentation.xml" Id="Rdbe6251a414448e0" /></Relationships>
</file>

<file path=ppt/presentation.xml><?xml version="1.0" encoding="utf-8"?>
<p:presentation xmlns:p="http://schemas.openxmlformats.org/presentationml/2006/main">
  <p:sldMasterIdLst>
    <p:sldMasterId xmlns:r="http://schemas.openxmlformats.org/officeDocument/2006/relationships" id="2147483648" r:id="R8f606639aa6042ef"/>
  </p:sldMasterIdLst>
  <p:notesMasterIdLst>
    <p:notesMasterId xmlns:r="http://schemas.openxmlformats.org/officeDocument/2006/relationships" r:id="R9e2330530ced4a81"/>
  </p:notesMasterIdLst>
  <p:sldIdLst>
    <p:sldId xmlns:r="http://schemas.openxmlformats.org/officeDocument/2006/relationships" id="256" r:id="Ra9a287f75016401d"/>
    <p:sldId xmlns:r="http://schemas.openxmlformats.org/officeDocument/2006/relationships" id="257" r:id="R85a9bd8c7d784624"/>
    <p:sldId xmlns:r="http://schemas.openxmlformats.org/officeDocument/2006/relationships" id="258" r:id="Re4521f1d21e947e5"/>
    <p:sldId xmlns:r="http://schemas.openxmlformats.org/officeDocument/2006/relationships" id="259" r:id="Raf24fd99f6e94476"/>
    <p:sldId xmlns:r="http://schemas.openxmlformats.org/officeDocument/2006/relationships" id="260" r:id="Rdf41dc2499ea4183"/>
    <p:sldId xmlns:r="http://schemas.openxmlformats.org/officeDocument/2006/relationships" id="261" r:id="R43fbbd2baa104a69"/>
    <p:sldId xmlns:r="http://schemas.openxmlformats.org/officeDocument/2006/relationships" id="262" r:id="Ra2f2283d41f54207"/>
    <p:sldId xmlns:r="http://schemas.openxmlformats.org/officeDocument/2006/relationships" id="263" r:id="Rfcdd8a8df4f54a6a"/>
    <p:sldId xmlns:r="http://schemas.openxmlformats.org/officeDocument/2006/relationships" id="264" r:id="Rb27420786eef4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95b354e10a4c27" /><Relationship Type="http://schemas.openxmlformats.org/officeDocument/2006/relationships/slideMaster" Target="/ppt/slideMasters/slideMaster1.xml" Id="R8f606639aa6042ef" /><Relationship Type="http://schemas.openxmlformats.org/officeDocument/2006/relationships/notesMaster" Target="/ppt/notesMasters/notesMaster1.xml" Id="R9e2330530ced4a81" /><Relationship Type="http://schemas.openxmlformats.org/officeDocument/2006/relationships/presProps" Target="/ppt/presProps.xml" Id="R5700d22c56584e98" /><Relationship Type="http://schemas.openxmlformats.org/officeDocument/2006/relationships/tableStyles" Target="/ppt/tableStyles.xml" Id="R6a9c575a3e3a44cc" /><Relationship Type="http://schemas.openxmlformats.org/officeDocument/2006/relationships/slide" Target="/ppt/slides/slide1.xml" Id="Ra9a287f75016401d" /><Relationship Type="http://schemas.openxmlformats.org/officeDocument/2006/relationships/slide" Target="/ppt/slides/slide2.xml" Id="R85a9bd8c7d784624" /><Relationship Type="http://schemas.openxmlformats.org/officeDocument/2006/relationships/slide" Target="/ppt/slides/slide3.xml" Id="Re4521f1d21e947e5" /><Relationship Type="http://schemas.openxmlformats.org/officeDocument/2006/relationships/slide" Target="/ppt/slides/slide4.xml" Id="Raf24fd99f6e94476" /><Relationship Type="http://schemas.openxmlformats.org/officeDocument/2006/relationships/slide" Target="/ppt/slides/slide5.xml" Id="Rdf41dc2499ea4183" /><Relationship Type="http://schemas.openxmlformats.org/officeDocument/2006/relationships/slide" Target="/ppt/slides/slide6.xml" Id="R43fbbd2baa104a69" /><Relationship Type="http://schemas.openxmlformats.org/officeDocument/2006/relationships/slide" Target="/ppt/slides/slide7.xml" Id="Ra2f2283d41f54207" /><Relationship Type="http://schemas.openxmlformats.org/officeDocument/2006/relationships/slide" Target="/ppt/slides/slide8.xml" Id="Rfcdd8a8df4f54a6a" /><Relationship Type="http://schemas.openxmlformats.org/officeDocument/2006/relationships/slide" Target="/ppt/slides/slide9.xml" Id="Rb27420786eef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5c1bc8fb0a4f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F Pro Display"/>
        <a:ea typeface="SF Pro Display"/>
        <a:cs typeface="SF Pro Display"/>
      </a:majorFont>
      <a:minorFont>
        <a:latin typeface="SF Pro Display"/>
        <a:ea typeface="SF Pro Display"/>
        <a:cs typeface="SF Pro Display"/>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b43d70e9824322" /><Relationship Type="http://schemas.openxmlformats.org/officeDocument/2006/relationships/notesMaster" Target="/ppt/notesMasters/notesMaster1.xml" Id="R16865befdb3744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209e23c5ff4cf6" /><Relationship Type="http://schemas.openxmlformats.org/officeDocument/2006/relationships/notesMaster" Target="/ppt/notesMasters/notesMaster1.xml" Id="Ra02e20d302f54a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e094e5f0d14209" /><Relationship Type="http://schemas.openxmlformats.org/officeDocument/2006/relationships/notesMaster" Target="/ppt/notesMasters/notesMaster1.xml" Id="R9cabf5506e264f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7faf7bb95f4a8a" /><Relationship Type="http://schemas.openxmlformats.org/officeDocument/2006/relationships/notesMaster" Target="/ppt/notesMasters/notesMaster1.xml" Id="R7a492d9cfea14a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1c2cd3f38843c0" /><Relationship Type="http://schemas.openxmlformats.org/officeDocument/2006/relationships/notesMaster" Target="/ppt/notesMasters/notesMaster1.xml" Id="Rbf23019bedf94f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1083a5ceb3468e" /><Relationship Type="http://schemas.openxmlformats.org/officeDocument/2006/relationships/notesMaster" Target="/ppt/notesMasters/notesMaster1.xml" Id="R62669f5ae3374b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e480f88495480c" /><Relationship Type="http://schemas.openxmlformats.org/officeDocument/2006/relationships/notesMaster" Target="/ppt/notesMasters/notesMaster1.xml" Id="R17610d57059243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e84f26abb84d99" /><Relationship Type="http://schemas.openxmlformats.org/officeDocument/2006/relationships/notesMaster" Target="/ppt/notesMasters/notesMaster1.xml" Id="R3961b532f46b4b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0ca5a917ca4d9f" /><Relationship Type="http://schemas.openxmlformats.org/officeDocument/2006/relationships/notesMaster" Target="/ppt/notesMasters/notesMaster1.xml" Id="R96b0f7b9beb845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Perkenalkan De Voeux Team dan anggota yang hadir. Kami mengeksplorasi bagaimana teknologi dan informasi lingkungan dapat mendukung komunitas pembudidaya rumput laut di Pulau Tidung. Lanjutkan ke gambaran proyek pada slide berikutnya.</a:t>
            </a:r>
          </a:p>
          <a:p xmlns:a="http://schemas.openxmlformats.org/drawingml/2006/main">
            <a:r>
              <a:t/>
            </a:r>
          </a:p>
          <a:p xmlns:a="http://schemas.openxmlformats.org/drawingml/2006/main">
            <a:r>
              <a:t>SUMBER</a:t>
            </a:r>
          </a:p>
          <a:p xmlns:a="http://schemas.openxmlformats.org/drawingml/2006/main">
            <a:r>
              <a:t>Nama tim: dikonfirmasi langsung pengguna dalam chat. Deskripsi fokus tim merangkum Challenge Response proyek. Afiliasi, latar belakang dan nama anggota belum diberikan.</a:t>
            </a:r>
          </a:p>
          <a:p xmlns:a="http://schemas.openxmlformats.org/drawingml/2006/main">
            <a:r>
              <a:t/>
            </a:r>
          </a:p>
          <a:p xmlns:a="http://schemas.openxmlformats.org/drawingml/2006/main">
            <a:r>
              <a:t>FOTO TIM</a:t>
            </a:r>
          </a:p>
          <a:p xmlns:a="http://schemas.openxmlformats.org/drawingml/2006/main">
            <a:r>
              <a:t>Area foto adalah placeholder kelompok yang dapat diganti dengan foto tim. Isi caption nama anggota dari kiri ke kanan setelah foto tersedia.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Buka dengan konteks: kami mengeksplorasi dukungan keputusan bagi community advocates pada budidaya rumput laut laut di Pulau Tidung. Tujuan meeting adalah mendapat masukan pada framing biologis dan pilot. Ini proyek tahap eksplorasi. Kami belum memiliki sistem prediksi ice-ice yang tervalidasi. Alokasi sekitar 30 detik.</a:t>
            </a:r>
          </a:p>
          <a:p xmlns:a="http://schemas.openxmlformats.org/drawingml/2006/main">
            <a:r>
              <a:t/>
            </a:r>
          </a:p>
          <a:p xmlns:a="http://schemas.openxmlformats.org/drawingml/2006/main">
            <a:r>
              <a:t>SUMBER</a:t>
            </a:r>
          </a:p>
          <a:p xmlns:a="http://schemas.openxmlformats.org/drawingml/2006/main">
            <a:r>
              <a:t>00-Navigasi/Challenge Response - Seaweed Ice-Ice.md (proposal tim, 14 Oktober 2026)</a:t>
            </a:r>
          </a:p>
          <a:p xmlns:a="http://schemas.openxmlformats.org/drawingml/2006/main">
            <a:r>
              <a:t>06-Metode dan Rencana/Methods/Desain POC - Peta Prioritas Pemeriksaan Rumput Laut.md, bagian Scope aktif (16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Fauzi, penyuluh yang mendampingi pembudidaya di Tidung, menceritakan inspeksi rutin, pemotongan bagian yang memutih, dan rescue bagian yang masih baik ke keramba berparanet. Beliau juga menceritakan kematian cepat, kadang tanpa tanda putih yang jelas. Ringkas sebagai penuturan narasumber, bukan diagnosis atau bukti hubungan kausal. Kebutuhan alat peringatan dini masih hipotesis. Masalah bibit, pasar dan kapasitas rescue juga relevan. Tidak menyajikan kutipan verbatim karena catatan bukan transkrip terverifikasi. Alokasi 45 detik.</a:t>
            </a:r>
          </a:p>
          <a:p xmlns:a="http://schemas.openxmlformats.org/drawingml/2006/main">
            <a:r>
              <a:t/>
            </a:r>
          </a:p>
          <a:p xmlns:a="http://schemas.openxmlformats.org/drawingml/2006/main">
            <a:r>
              <a:t>SUMBER</a:t>
            </a:r>
          </a:p>
          <a:p xmlns:a="http://schemas.openxmlformats.org/drawingml/2006/main">
            <a:r>
              <a:t>01-Wawancara/Interview/Interview - Fauzi (Penyuluh Rumput Laut Pulau Tidung).md (diimpor 5 Oktober 2026, tanggal interview tidak tersedia, catatan pengguna belum diverifikasi independen)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Bukti literatur dan interpretasi dipisahkan. Pada Kappaphycus alvarezii strain Tambalang brown, eksperimen Kumar et al. menunjukkan dampak kenaikan suhu pada fotosintesis, pigmen, ROS dan kualitas karaginan. Respons fisiologis tidak sama dengan diagnosis ice-ice atau prediksi onset. Review Tahiluddin &amp; Terzi merangkum faktor abiotik dan biotik pada Kappaphycus dan Eucheuma. Bukti host, bibit, luka dan fouling dibahas dalam kajian lokal. Belum ada ranking kontribusi kausal universal atau cutoff alarm lapangan yang tervalidasi dalam proyek. Jangan menyampaikan semua faktor sebagai empat prediktor terbaik. Alokasi 60 detik.</a:t>
            </a:r>
          </a:p>
          <a:p xmlns:a="http://schemas.openxmlformats.org/drawingml/2006/main">
            <a:r>
              <a:t/>
            </a:r>
          </a:p>
          <a:p xmlns:a="http://schemas.openxmlformats.org/drawingml/2006/main">
            <a:r>
              <a:t>SUMBER</a:t>
            </a:r>
          </a:p>
          <a:p xmlns:a="http://schemas.openxmlformats.org/drawingml/2006/main">
            <a:r>
              <a:t>07-Riset Ice-Ice/Research Ice-Ice/Kajian Indikator Warning Ice-Ice - Uji Asumsi Fitur.md dan Sintesis Penyebab Ice-Ice.md (14 Oktober 2026)</a:t>
            </a:r>
          </a:p>
          <a:p xmlns:a="http://schemas.openxmlformats.org/drawingml/2006/main">
            <a:r>
              <a:t>Kumar et al. (2020). Impact of elevated temperature on the physiological and biochemical responses of Kappaphycus alvarezii (Rhodophyta). PLOS ONE 15(9): e0239097. https://doi.org/10.1371/journal.pone.0239097 (eksperimen, spesies/strain khusus).</a:t>
            </a:r>
          </a:p>
          <a:p xmlns:a="http://schemas.openxmlformats.org/drawingml/2006/main">
            <a:r>
              <a:t>Tahiluddin &amp; Terzi (2021). Ice-Ice Disease in Commercially Cultivated Seaweeds Kappaphycus spp. and Eucheuma spp.: A Review on the Causes, Occurrence, and Control Measures. Marine Science and Technology Bulletin 10(3), 234–243. https://dergipark.org.tr/en/pub/masteb/article/917788 (review, bukan eksperimen primer).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Ini konsep pengalaman produk, belum fitur yang seluruhnya sudah dibangun. Advocate adalah pengguna awal yang diusulkan dalam Challenge Response. Tampilan jangka lanjut berupa peta petak dan alasan pemeriksaan. MapKit ada dalam proposal awal. Core ML opsional sesuai keputusan terbaru dan tidak menentukan validitas biologis. Rekomendasi inspeksi menjadi langkah awal yang lebih terbatas. Keputusan menanam, memindahkan atau panen memerlukan bukti manfaat dan kelayakan tindakan. Alokasi 45 detik.</a:t>
            </a:r>
          </a:p>
          <a:p xmlns:a="http://schemas.openxmlformats.org/drawingml/2006/main">
            <a:r>
              <a:t/>
            </a:r>
          </a:p>
          <a:p xmlns:a="http://schemas.openxmlformats.org/drawingml/2006/main">
            <a:r>
              <a:t>SUMBER</a:t>
            </a:r>
          </a:p>
          <a:p xmlns:a="http://schemas.openxmlformats.org/drawingml/2006/main">
            <a:r>
              <a:t>00-Navigasi/Challenge Response - Seaweed Ice-Ice.md (proposal tim, 14 Oktober 2026)</a:t>
            </a:r>
          </a:p>
          <a:p xmlns:a="http://schemas.openxmlformats.org/drawingml/2006/main">
            <a:r>
              <a:t>06-Metode dan Rencana/Methods/Desain POC - Peta Prioritas Pemeriksaan Rumput Laut.md, bagian Scope aktif (16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Rencana, belum integrasi live. Pengukuran lokal pada kedalaman tanaman diperlukan sebagai pembanding dan untuk menangkap perbedaan lokal. Opsi IoT masih dibahas, termasuk alat portabel versus node menetap. MUR adalah analisis SST harian grid sekitar 1 km, bukan termometer pada tanaman. Salinitas dan arus Copernicus adalah produk model dengan cakupan regional. BMKG menjadi kandidat konteks prakiraan; observasi dan prakiraan harus dibedakan. Tidak mengklaim data tersedia/akurat untuk koordinat target. Spesies dan koordinat final belum ditetapkan. Arus adalah input pada demo sintetis, tetapi pengukuran lapangan arus menunggu kebutuhan dan alat yang jelas. Alokasi 45 detik.</a:t>
            </a:r>
          </a:p>
          <a:p xmlns:a="http://schemas.openxmlformats.org/drawingml/2006/main">
            <a:r>
              <a:t/>
            </a:r>
          </a:p>
          <a:p xmlns:a="http://schemas.openxmlformats.org/drawingml/2006/main">
            <a:r>
              <a:t>SUMBER</a:t>
            </a:r>
          </a:p>
          <a:p xmlns:a="http://schemas.openxmlformats.org/drawingml/2006/main">
            <a:r>
              <a:t>06-Metode dan Rencana/Methods/Desain POC - Peta Prioritas Pemeriksaan Rumput Laut.md, bagian Scope aktif (16 Oktober 2026)</a:t>
            </a:r>
          </a:p>
          <a:p xmlns:a="http://schemas.openxmlformats.org/drawingml/2006/main">
            <a:r>
              <a:t>06-Metode dan Rencana/Methods/Rencana Pengukuran IoT Kondisi Laut - Diskusi Mas Ricky.md (diimpor 15 Oktober 2026)</a:t>
            </a:r>
          </a:p>
          <a:p xmlns:a="http://schemas.openxmlformats.org/drawingml/2006/main">
            <a:r>
              <a:t>NASA PO.DAAC, Multi-scale Ultra-high Resolution SST: https://podaac.jpl.nasa.gov/MEaSUREs-MUR (dokumentasi produk diperiksa 16 Oktober 2026).</a:t>
            </a:r>
          </a:p>
          <a:p xmlns:a="http://schemas.openxmlformats.org/drawingml/2006/main">
            <a:r>
              <a:t>Kandidat lain dan batasnya merujuk pemeriksaan sumber resmi dalam catatan POC, bukan pemeriksaan ulang payload lokasi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Literature synthesis dan interview adalah groundwork yang tersedia. Demo saat ini berupa form interaktif dengan input suhu, salinitas dan arus serta observasi tanaman. Model Gaussian multivariat/jarak Mahalanobis memakai training dan kalibrasi sintetis. Model benar-benar menghitung skor, tetapi skor tersebut hanya perbedaan terhadap referensi simulasi dan tidak menjadi persentase probabilitas ice-ice. Pengamatan gejala memicu pemeriksaan secara terpisah. Belum ada dataset laut nyata, koneksi API NASA/Copernicus/BMKG, model penyakit atau integrasi IoT/ARKit/Core ML. Prototype mapping dilaporkan ada oleh tim namun belum diperiksa, sehingga tidak dijadikan bukti integrasi di deck. Alokasi 45 detik.</a:t>
            </a:r>
          </a:p>
          <a:p xmlns:a="http://schemas.openxmlformats.org/drawingml/2006/main">
            <a:r>
              <a:t/>
            </a:r>
          </a:p>
          <a:p xmlns:a="http://schemas.openxmlformats.org/drawingml/2006/main">
            <a:r>
              <a:t>SUMBER</a:t>
            </a:r>
          </a:p>
          <a:p xmlns:a="http://schemas.openxmlformats.org/drawingml/2006/main">
            <a:r>
              <a:t>06-Metode dan Rencana/Methods/Desain POC - Peta Prioritas Pemeriksaan Rumput Laut.md, bagian Scope aktif (16 Oktober 2026)</a:t>
            </a:r>
          </a:p>
          <a:p xmlns:a="http://schemas.openxmlformats.org/drawingml/2006/main">
            <a:r>
              <a:t>07-Riset Ice-Ice/Research Ice-Ice/Kajian Indikator Warning Ice-Ice - Uji Asumsi Fitur.md dan Sintesis Penyebab Ice-Ice.md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Ini usulan studi pertama untuk dibahas, belum protocol penelitian final. Definisi kasus dan outcome memerlukan masukan Prof. Roleda. Pemutihan, stres, gejala dan diagnosis dibedakan. Tanggal gejala pertama dicatat bersama ketidakpastian ingatan. Catat identitas batch, asal bibit, umur siklus, kedalaman, perawatan dan tindakan. Sensor perlu kalibrasi/pembanding manual. Inspeksi rutin juga dilakukan pada petak tanpa alert untuk menghitung kejadian yang terlewat. Uji model pada periode/siklus berbeda saat data tersedia, hindari random split reading bertetangga. Waktu antara sinyal dan gejala hanya dinilai bila urutannya tercatat dengan baik. Evaluasi tindakan harus memperhitungkan kapasitas dan biaya. Belum menetapkan jumlah sampel atau durasi studi tanpa konteks biologis. Alokasi 60 detik.</a:t>
            </a:r>
          </a:p>
          <a:p xmlns:a="http://schemas.openxmlformats.org/drawingml/2006/main">
            <a:r>
              <a:t/>
            </a:r>
          </a:p>
          <a:p xmlns:a="http://schemas.openxmlformats.org/drawingml/2006/main">
            <a:r>
              <a:t>SUMBER</a:t>
            </a:r>
          </a:p>
          <a:p xmlns:a="http://schemas.openxmlformats.org/drawingml/2006/main">
            <a:r>
              <a:t>06-Metode dan Rencana/Methods/Desain POC - Peta Prioritas Pemeriksaan Rumput Laut.md, bagian Scope aktif (16 Oktober 2026)</a:t>
            </a:r>
          </a:p>
          <a:p xmlns:a="http://schemas.openxmlformats.org/drawingml/2006/main">
            <a:r>
              <a:t>07-Riset Ice-Ice/Research Ice-Ice/Kajian Indikator Warning Ice-Ice - Uji Asumsi Fitur.md dan Sintesis Penyebab Ice-Ice.md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CATATAN PRESENTER</a:t>
            </a:r>
          </a:p>
          <a:p xmlns:a="http://schemas.openxmlformats.org/drawingml/2006/main">
            <a:r>
              <a:t>Gunakan slide ini untuk diskusi. Empat pertanyaan berfokus pada diagnosis/observasi, prioritas variabel, desain sampling dan manfaat tindakan. Jelaskan bahwa tim ingin menguji asumsi proposal sebelum memperluas fitur. Jika waktunya pendek, utamakan pertanyaan 1 dan 2. Alokasi 30 detik sebelum diskusi terbuka.</a:t>
            </a:r>
          </a:p>
          <a:p xmlns:a="http://schemas.openxmlformats.org/drawingml/2006/main">
            <a:r>
              <a:t/>
            </a:r>
          </a:p>
          <a:p xmlns:a="http://schemas.openxmlformats.org/drawingml/2006/main">
            <a:r>
              <a:t>SUMBER</a:t>
            </a:r>
          </a:p>
          <a:p xmlns:a="http://schemas.openxmlformats.org/drawingml/2006/main">
            <a:r>
              <a:t>07-Riset Ice-Ice/Research Ice-Ice/Kajian Indikator Warning Ice-Ice - Uji Asumsi Fitur.md dan Sintesis Penyebab Ice-Ice.md (14 Oktober 2026)</a:t>
            </a:r>
          </a:p>
          <a:p xmlns:a="http://schemas.openxmlformats.org/drawingml/2006/main">
            <a:r>
              <a:t>06-Metode dan Rencana/Methods/Desain POC - Peta Prioritas Pemeriksaan Rumput Laut.md, bagian Scope aktif (16 Oktober 2026)</a:t>
            </a:r>
          </a:p>
          <a:p xmlns:a="http://schemas.openxmlformats.org/drawingml/2006/main">
            <a:r>
              <a:t>Pertanyaan disusun untuk meeting, bukan temuan atau pernyataan Prof. Roleda.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3bfba804d74b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107235919944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00fe2d29034a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5d919101f946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89bc32de3649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2f1aee2ae944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2553B5-864F-4354-BFF6-D3207E7CD7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SF Pro Display"/>
                <a:ea typeface="SF Pro Display"/>
                <a:cs typeface="SF Pro Display"/>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DF0091-FC87-4148-BAF1-43C66FEBC2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SF Pro Display"/>
                <a:ea typeface="SF Pro Display"/>
                <a:cs typeface="SF Pro Display"/>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F1ABF6-9F3F-4598-AC91-ABE13FFC6E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SF Pro Display"/>
                <a:ea typeface="SF Pro Display"/>
                <a:cs typeface="SF Pro Display"/>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FCBB34-C540-4E6E-8036-9F8B57D1A4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SF Pro Display"/>
                <a:ea typeface="SF Pro Display"/>
                <a:cs typeface="SF Pro Display"/>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6C550F-B476-40AA-979C-77C3961324D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SF Pro Display"/>
                <a:ea typeface="SF Pro Display"/>
                <a:cs typeface="SF Pro Display"/>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BA4464-3EDE-4D94-B66D-D77DDA1518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SF Pro Display"/>
                <a:ea typeface="SF Pro Display"/>
                <a:cs typeface="SF Pro Display"/>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5BB980-969C-4EFA-A4A1-833934653F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SF Pro Display"/>
                <a:ea typeface="SF Pro Display"/>
                <a:cs typeface="SF Pro Display"/>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5BA99E-2DA7-4198-8C56-889B9AAD1C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SF Pro Display"/>
                <a:ea typeface="SF Pro Display"/>
                <a:cs typeface="SF Pro Display"/>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B49D7D-2DD5-4148-9B40-75185DC7B6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SF Pro Display"/>
                <a:ea typeface="SF Pro Display"/>
                <a:cs typeface="SF Pro Display"/>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164756-2050-49E1-B37F-E502AB8F67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SF Pro Display"/>
                <a:ea typeface="SF Pro Display"/>
                <a:cs typeface="SF Pro Display"/>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8707e95a03469a" /><Relationship Type="http://schemas.openxmlformats.org/officeDocument/2006/relationships/slideLayout" Target="/ppt/slideLayouts/slideLayout1.xml" Id="Rad95eddc3c934bb8" /><Relationship Type="http://schemas.openxmlformats.org/officeDocument/2006/relationships/slideLayout" Target="/ppt/slideLayouts/slideLayout2.xml" Id="R66496f44e8144e69" /><Relationship Type="http://schemas.openxmlformats.org/officeDocument/2006/relationships/slideLayout" Target="/ppt/slideLayouts/slideLayout3.xml" Id="R37622dfcc01c47ff" /><Relationship Type="http://schemas.openxmlformats.org/officeDocument/2006/relationships/slideLayout" Target="/ppt/slideLayouts/slideLayout4.xml" Id="R8e2453f678814ca2" /><Relationship Type="http://schemas.openxmlformats.org/officeDocument/2006/relationships/slideLayout" Target="/ppt/slideLayouts/slideLayout5.xml" Id="Rd34f173f45144ae9" /><Relationship Type="http://schemas.openxmlformats.org/officeDocument/2006/relationships/slideLayout" Target="/ppt/slideLayouts/slideLayout6.xml" Id="R7ac344b818724f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95eddc3c934bb8"/>
    <p:sldLayoutId xmlns:r="http://schemas.openxmlformats.org/officeDocument/2006/relationships" id="2147483650" r:id="R66496f44e8144e69"/>
    <p:sldLayoutId xmlns:r="http://schemas.openxmlformats.org/officeDocument/2006/relationships" id="2147483651" r:id="R37622dfcc01c47ff"/>
    <p:sldLayoutId xmlns:r="http://schemas.openxmlformats.org/officeDocument/2006/relationships" id="2147483652" r:id="R8e2453f678814ca2"/>
    <p:sldLayoutId xmlns:r="http://schemas.openxmlformats.org/officeDocument/2006/relationships" id="2147483653" r:id="Rd34f173f45144ae9"/>
    <p:sldLayoutId xmlns:r="http://schemas.openxmlformats.org/officeDocument/2006/relationships" id="2147483654" r:id="R7ac344b818724feb"/>
  </p:sldLayoutIdLst>
  <p:txStyles>
    <p:titleStyle>
      <a:lvl1pPr xmlns:a="http://schemas.openxmlformats.org/drawingml/2006/main" algn="l">
        <a:lnSpc>
          <a:spcPct val="90000"/>
        </a:lnSpc>
        <a:spcBef>
          <a:spcPts val="0"/>
        </a:spcBef>
        <a:buNone/>
        <a:defRPr sz="4400">
          <a:solidFill>
            <a:schemeClr val="tx1"/>
          </a:solidFill>
          <a:latin typeface="SF Pro Display"/>
          <a:ea typeface="SF Pro Display"/>
          <a:cs typeface="SF Pro Display"/>
        </a:defRPr>
      </a:lvl1pPr>
    </p:titleStyle>
    <p:bodyStyle>
      <a:lvl1pPr xmlns:a="http://schemas.openxmlformats.org/drawingml/2006/main" marL="228600" indent="-228600" algn="l">
        <a:lnSpc>
          <a:spcPct val="90000"/>
        </a:lnSpc>
        <a:spcBef>
          <a:spcPts val="1000"/>
        </a:spcBef>
        <a:buChar char="•"/>
        <a:defRPr sz="2800">
          <a:solidFill>
            <a:schemeClr val="tx1"/>
          </a:solidFill>
          <a:latin typeface="SF Pro Display"/>
          <a:ea typeface="SF Pro Display"/>
          <a:cs typeface="SF Pro Display"/>
        </a:defRPr>
      </a:lvl1pPr>
      <a:lvl2pPr xmlns:a="http://schemas.openxmlformats.org/drawingml/2006/main" marL="685800" indent="-228600" algn="l">
        <a:lnSpc>
          <a:spcPct val="90000"/>
        </a:lnSpc>
        <a:spcBef>
          <a:spcPts val="500"/>
        </a:spcBef>
        <a:buChar char="•"/>
        <a:defRPr sz="2400">
          <a:solidFill>
            <a:schemeClr val="tx1"/>
          </a:solidFill>
          <a:latin typeface="SF Pro Display"/>
          <a:ea typeface="SF Pro Display"/>
          <a:cs typeface="SF Pro Display"/>
        </a:defRPr>
      </a:lvl2pPr>
      <a:lvl3pPr xmlns:a="http://schemas.openxmlformats.org/drawingml/2006/main" marL="1143000" indent="-228600" algn="l">
        <a:lnSpc>
          <a:spcPct val="90000"/>
        </a:lnSpc>
        <a:spcBef>
          <a:spcPts val="500"/>
        </a:spcBef>
        <a:buChar char="•"/>
        <a:defRPr sz="2000">
          <a:solidFill>
            <a:schemeClr val="tx1"/>
          </a:solidFill>
          <a:latin typeface="SF Pro Display"/>
          <a:ea typeface="SF Pro Display"/>
          <a:cs typeface="SF Pro Display"/>
        </a:defRPr>
      </a:lvl3pPr>
      <a:lvl4pPr xmlns:a="http://schemas.openxmlformats.org/drawingml/2006/main" marL="1600200" indent="-228600" algn="l">
        <a:lnSpc>
          <a:spcPct val="90000"/>
        </a:lnSpc>
        <a:spcBef>
          <a:spcPts val="500"/>
        </a:spcBef>
        <a:buChar char="•"/>
        <a:defRPr sz="1800">
          <a:solidFill>
            <a:schemeClr val="tx1"/>
          </a:solidFill>
          <a:latin typeface="SF Pro Display"/>
          <a:ea typeface="SF Pro Display"/>
          <a:cs typeface="SF Pro Display"/>
        </a:defRPr>
      </a:lvl4pPr>
      <a:lvl5pPr xmlns:a="http://schemas.openxmlformats.org/drawingml/2006/main" marL="2057400" indent="-228600" algn="l">
        <a:lnSpc>
          <a:spcPct val="90000"/>
        </a:lnSpc>
        <a:spcBef>
          <a:spcPts val="500"/>
        </a:spcBef>
        <a:buChar char="•"/>
        <a:defRPr sz="1800">
          <a:solidFill>
            <a:schemeClr val="tx1"/>
          </a:solidFill>
          <a:latin typeface="SF Pro Display"/>
          <a:ea typeface="SF Pro Display"/>
          <a:cs typeface="SF Pro Display"/>
        </a:defRPr>
      </a:lvl5pPr>
      <a:lvl6pPr xmlns:a="http://schemas.openxmlformats.org/drawingml/2006/main" marL="2514600" indent="-228600" algn="l">
        <a:lnSpc>
          <a:spcPct val="90000"/>
        </a:lnSpc>
        <a:spcBef>
          <a:spcPts val="500"/>
        </a:spcBef>
        <a:buChar char="•"/>
        <a:defRPr sz="1800">
          <a:solidFill>
            <a:schemeClr val="tx1"/>
          </a:solidFill>
          <a:latin typeface="SF Pro Display"/>
          <a:ea typeface="SF Pro Display"/>
          <a:cs typeface="SF Pro Display"/>
        </a:defRPr>
      </a:lvl6pPr>
      <a:lvl7pPr xmlns:a="http://schemas.openxmlformats.org/drawingml/2006/main" marL="2971800" indent="-228600" algn="l">
        <a:lnSpc>
          <a:spcPct val="90000"/>
        </a:lnSpc>
        <a:spcBef>
          <a:spcPts val="500"/>
        </a:spcBef>
        <a:buChar char="•"/>
        <a:defRPr sz="1800">
          <a:solidFill>
            <a:schemeClr val="tx1"/>
          </a:solidFill>
          <a:latin typeface="SF Pro Display"/>
          <a:ea typeface="SF Pro Display"/>
          <a:cs typeface="SF Pro Display"/>
        </a:defRPr>
      </a:lvl7pPr>
      <a:lvl8pPr xmlns:a="http://schemas.openxmlformats.org/drawingml/2006/main" marL="3429000" indent="-228600" algn="l">
        <a:lnSpc>
          <a:spcPct val="90000"/>
        </a:lnSpc>
        <a:spcBef>
          <a:spcPts val="500"/>
        </a:spcBef>
        <a:buChar char="•"/>
        <a:defRPr sz="1800">
          <a:solidFill>
            <a:schemeClr val="tx1"/>
          </a:solidFill>
          <a:latin typeface="SF Pro Display"/>
          <a:ea typeface="SF Pro Display"/>
          <a:cs typeface="SF Pro Display"/>
        </a:defRPr>
      </a:lvl8pPr>
      <a:lvl9pPr xmlns:a="http://schemas.openxmlformats.org/drawingml/2006/main" marL="3886200" indent="-228600" algn="l">
        <a:lnSpc>
          <a:spcPct val="90000"/>
        </a:lnSpc>
        <a:spcBef>
          <a:spcPts val="500"/>
        </a:spcBef>
        <a:buChar char="•"/>
        <a:defRPr sz="1800">
          <a:solidFill>
            <a:schemeClr val="tx1"/>
          </a:solidFill>
          <a:latin typeface="SF Pro Display"/>
          <a:ea typeface="SF Pro Display"/>
          <a:cs typeface="SF Pro Display"/>
        </a:defRPr>
      </a:lvl9pPr>
    </p:bodyStyle>
    <p:otherStyle>
      <a:lvl1pPr xmlns:a="http://schemas.openxmlformats.org/drawingml/2006/main" marL="0" algn="l">
        <a:buNone/>
        <a:defRPr sz="1800">
          <a:solidFill>
            <a:schemeClr val="tx1"/>
          </a:solidFill>
          <a:latin typeface="SF Pro Display"/>
          <a:ea typeface="SF Pro Display"/>
          <a:cs typeface="SF Pro Display"/>
        </a:defRPr>
      </a:lvl1pPr>
      <a:lvl2pPr xmlns:a="http://schemas.openxmlformats.org/drawingml/2006/main" marL="457200" algn="l">
        <a:buNone/>
        <a:defRPr sz="1800">
          <a:solidFill>
            <a:schemeClr val="tx1"/>
          </a:solidFill>
          <a:latin typeface="SF Pro Display"/>
          <a:ea typeface="SF Pro Display"/>
          <a:cs typeface="SF Pro Display"/>
        </a:defRPr>
      </a:lvl2pPr>
      <a:lvl3pPr xmlns:a="http://schemas.openxmlformats.org/drawingml/2006/main" marL="914400" algn="l">
        <a:buNone/>
        <a:defRPr sz="1800">
          <a:solidFill>
            <a:schemeClr val="tx1"/>
          </a:solidFill>
          <a:latin typeface="SF Pro Display"/>
          <a:ea typeface="SF Pro Display"/>
          <a:cs typeface="SF Pro Display"/>
        </a:defRPr>
      </a:lvl3pPr>
      <a:lvl4pPr xmlns:a="http://schemas.openxmlformats.org/drawingml/2006/main" marL="1371600" algn="l">
        <a:buNone/>
        <a:defRPr sz="1800">
          <a:solidFill>
            <a:schemeClr val="tx1"/>
          </a:solidFill>
          <a:latin typeface="SF Pro Display"/>
          <a:ea typeface="SF Pro Display"/>
          <a:cs typeface="SF Pro Display"/>
        </a:defRPr>
      </a:lvl4pPr>
      <a:lvl5pPr xmlns:a="http://schemas.openxmlformats.org/drawingml/2006/main" marL="1828800" algn="l">
        <a:buNone/>
        <a:defRPr sz="1800">
          <a:solidFill>
            <a:schemeClr val="tx1"/>
          </a:solidFill>
          <a:latin typeface="SF Pro Display"/>
          <a:ea typeface="SF Pro Display"/>
          <a:cs typeface="SF Pro Display"/>
        </a:defRPr>
      </a:lvl5pPr>
      <a:lvl6pPr xmlns:a="http://schemas.openxmlformats.org/drawingml/2006/main" marL="2286000" algn="l">
        <a:buNone/>
        <a:defRPr sz="1800">
          <a:solidFill>
            <a:schemeClr val="tx1"/>
          </a:solidFill>
          <a:latin typeface="SF Pro Display"/>
          <a:ea typeface="SF Pro Display"/>
          <a:cs typeface="SF Pro Display"/>
        </a:defRPr>
      </a:lvl6pPr>
      <a:lvl7pPr xmlns:a="http://schemas.openxmlformats.org/drawingml/2006/main" marL="2743200" algn="l">
        <a:buNone/>
        <a:defRPr sz="1800">
          <a:solidFill>
            <a:schemeClr val="tx1"/>
          </a:solidFill>
          <a:latin typeface="SF Pro Display"/>
          <a:ea typeface="SF Pro Display"/>
          <a:cs typeface="SF Pro Display"/>
        </a:defRPr>
      </a:lvl7pPr>
      <a:lvl8pPr xmlns:a="http://schemas.openxmlformats.org/drawingml/2006/main" marL="3200400" algn="l">
        <a:buNone/>
        <a:defRPr sz="1800">
          <a:solidFill>
            <a:schemeClr val="tx1"/>
          </a:solidFill>
          <a:latin typeface="SF Pro Display"/>
          <a:ea typeface="SF Pro Display"/>
          <a:cs typeface="SF Pro Display"/>
        </a:defRPr>
      </a:lvl8pPr>
      <a:lvl9pPr xmlns:a="http://schemas.openxmlformats.org/drawingml/2006/main" marL="3657600" algn="l">
        <a:buNone/>
        <a:defRPr sz="1800">
          <a:solidFill>
            <a:schemeClr val="tx1"/>
          </a:solidFill>
          <a:latin typeface="SF Pro Display"/>
          <a:ea typeface="SF Pro Display"/>
          <a:cs typeface="SF Pro Display"/>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F Pro Display"/>
        <a:ea typeface="SF Pro Display"/>
        <a:cs typeface="SF Pro Display"/>
      </a:majorFont>
      <a:minorFont>
        <a:latin typeface="SF Pro Display"/>
        <a:ea typeface="SF Pro Display"/>
        <a:cs typeface="SF Pro Display"/>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d5b2fdc69b4f8c" /><Relationship Type="http://schemas.openxmlformats.org/officeDocument/2006/relationships/notesSlide" Target="/ppt/notesSlides/notesSlide1.xml" Id="Rc357dee663f541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80d31e70914022" /><Relationship Type="http://schemas.openxmlformats.org/officeDocument/2006/relationships/notesSlide" Target="/ppt/notesSlides/notesSlide2.xml" Id="Re0e2f6c0be6349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b83a1d3f854aac" /><Relationship Type="http://schemas.openxmlformats.org/officeDocument/2006/relationships/notesSlide" Target="/ppt/notesSlides/notesSlide3.xml" Id="Rff950901d60e48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2ac23dd0a14df7" /><Relationship Type="http://schemas.openxmlformats.org/officeDocument/2006/relationships/notesSlide" Target="/ppt/notesSlides/notesSlide4.xml" Id="R941d1e4252a843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c8d43a78954356" /><Relationship Type="http://schemas.openxmlformats.org/officeDocument/2006/relationships/notesSlide" Target="/ppt/notesSlides/notesSlide5.xml" Id="R20e33f81eed845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d830c5e0334b01" /><Relationship Type="http://schemas.openxmlformats.org/officeDocument/2006/relationships/notesSlide" Target="/ppt/notesSlides/notesSlide6.xml" Id="R7cb163f8b66647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ed5aba1f93a4c36" /><Relationship Type="http://schemas.openxmlformats.org/officeDocument/2006/relationships/notesSlide" Target="/ppt/notesSlides/notesSlide7.xml" Id="R61970b51785b46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c5857f085a42bd" /><Relationship Type="http://schemas.openxmlformats.org/officeDocument/2006/relationships/notesSlide" Target="/ppt/notesSlides/notesSlide8.xml" Id="R93fd24bfda8e47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e195ca0e2e4f72" /><Relationship Type="http://schemas.openxmlformats.org/officeDocument/2006/relationships/notesSlide" Target="/ppt/notesSlides/notesSlide9.xml" Id="R52dc9e08fca6448c"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Who we are">
            <a:extLst xmlns:a="http://schemas.openxmlformats.org/drawingml/2006/main">
              <a:ext uri="{FF2B5EF4-FFF2-40B4-BE49-F238E27FC236}">
                <a16:creationId xmlns:a16="http://schemas.microsoft.com/office/drawing/2014/main" id="{466F0F87-0C4C-4620-93FF-55BD6828E506}"/>
              </a:ext>
            </a:extLst>
          </p:cNvPr>
          <p:cNvSpPr>
            <a:spLocks xmlns:a="http://schemas.openxmlformats.org/drawingml/2006/main" noGrp="1"/>
          </p:cNvSpPr>
          <p:nvPr/>
        </p:nvSpPr>
        <p:spPr>
          <a:xfrm xmlns:a="http://schemas.openxmlformats.org/drawingml/2006/main">
            <a:off x="723900" y="619125"/>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Who we are</a:t>
            </a:r>
          </a:p>
        </p:txBody>
      </p:sp>
      <p:sp>
        <p:nvSpPr>
          <p:cNvPr id="2" name="De Voeux Team">
            <a:extLst xmlns:a="http://schemas.openxmlformats.org/drawingml/2006/main">
              <a:ext uri="{FF2B5EF4-FFF2-40B4-BE49-F238E27FC236}">
                <a16:creationId xmlns:a16="http://schemas.microsoft.com/office/drawing/2014/main" id="{EBFF55A0-D029-4BDE-A0E3-FFA81182A83B}"/>
              </a:ext>
            </a:extLst>
          </p:cNvPr>
          <p:cNvSpPr>
            <a:spLocks xmlns:a="http://schemas.openxmlformats.org/drawingml/2006/main" noGrp="1"/>
          </p:cNvSpPr>
          <p:nvPr/>
        </p:nvSpPr>
        <p:spPr>
          <a:xfrm xmlns:a="http://schemas.openxmlformats.org/drawingml/2006/main">
            <a:off x="742950" y="2152650"/>
            <a:ext cx="4905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3D6B62"/>
                </a:solidFill>
                <a:latin typeface="SF Pro Display"/>
                <a:ea typeface="SF Pro Display"/>
                <a:cs typeface="SF Pro Display"/>
              </a:defRPr>
            </a:defPPr>
          </a:lstStyle>
          <a:p xmlns:a="http://schemas.openxmlformats.org/drawingml/2006/main">
            <a:pPr>
              <a:defRPr sz="3600" b="1">
                <a:solidFill>
                  <a:srgbClr val="3D6B62"/>
                </a:solidFill>
                <a:latin typeface="SF Pro Display"/>
                <a:ea typeface="SF Pro Display"/>
                <a:cs typeface="SF Pro Display"/>
              </a:defRPr>
            </a:pPr>
            <a:r>
              <a:rPr sz="3600" b="1">
                <a:solidFill>
                  <a:srgbClr val="3D6B62"/>
                </a:solidFill>
                <a:latin typeface="SF Pro Display"/>
                <a:ea typeface="SF Pro Display"/>
                <a:cs typeface="SF Pro Display"/>
              </a:rPr>
              <a:t>De Voeux Team</a:t>
            </a:r>
          </a:p>
        </p:txBody>
      </p:sp>
      <p:sp>
        <p:nvSpPr>
          <p:cNvPr id="3" name="We’re exploring how technology&#10;can support seaweed">
            <a:extLst xmlns:a="http://schemas.openxmlformats.org/drawingml/2006/main">
              <a:ext uri="{FF2B5EF4-FFF2-40B4-BE49-F238E27FC236}">
                <a16:creationId xmlns:a16="http://schemas.microsoft.com/office/drawing/2014/main" id="{C90F0366-6234-4381-8385-1EA7BAF85342}"/>
              </a:ext>
            </a:extLst>
          </p:cNvPr>
          <p:cNvSpPr>
            <a:spLocks xmlns:a="http://schemas.openxmlformats.org/drawingml/2006/main" noGrp="1"/>
          </p:cNvSpPr>
          <p:nvPr/>
        </p:nvSpPr>
        <p:spPr>
          <a:xfrm xmlns:a="http://schemas.openxmlformats.org/drawingml/2006/main">
            <a:off x="762000" y="3295650"/>
            <a:ext cx="4857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2B2B"/>
                </a:solidFill>
                <a:latin typeface="SF Pro Display"/>
                <a:ea typeface="SF Pro Display"/>
                <a:cs typeface="SF Pro Display"/>
              </a:defRPr>
            </a:defPPr>
          </a:lstStyle>
          <a:p xmlns:a="http://schemas.openxmlformats.org/drawingml/2006/main">
            <a:pPr>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We’re exploring how technology</a:t>
            </a:r>
          </a:p>
          <a:p xmlns:a="http://schemas.openxmlformats.org/drawingml/2006/main">
            <a:pPr>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can support seaweed farming</a:t>
            </a:r>
          </a:p>
          <a:p xmlns:a="http://schemas.openxmlformats.org/drawingml/2006/main">
            <a:pPr>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communities in Pulau Tidung.</a:t>
            </a:r>
          </a:p>
        </p:txBody>
      </p:sp>
      <p:sp>
        <p:nvSpPr>
          <p:cNvPr id="4" name="Our focus is environmental information&#10;and everyda">
            <a:extLst xmlns:a="http://schemas.openxmlformats.org/drawingml/2006/main">
              <a:ext uri="{FF2B5EF4-FFF2-40B4-BE49-F238E27FC236}">
                <a16:creationId xmlns:a16="http://schemas.microsoft.com/office/drawing/2014/main" id="{2CE7032C-5A63-4814-A8F3-3BB4423398F8}"/>
              </a:ext>
            </a:extLst>
          </p:cNvPr>
          <p:cNvSpPr>
            <a:spLocks xmlns:a="http://schemas.openxmlformats.org/drawingml/2006/main" noGrp="1"/>
          </p:cNvSpPr>
          <p:nvPr/>
        </p:nvSpPr>
        <p:spPr>
          <a:xfrm xmlns:a="http://schemas.openxmlformats.org/drawingml/2006/main">
            <a:off x="762000" y="50101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F6C69"/>
                </a:solidFill>
                <a:latin typeface="SF Pro Display"/>
                <a:ea typeface="SF Pro Display"/>
                <a:cs typeface="SF Pro Display"/>
              </a:defRPr>
            </a:defPPr>
          </a:lstStyle>
          <a:p xmlns:a="http://schemas.openxmlformats.org/drawingml/2006/main">
            <a:pPr>
              <a:defRPr sz="1800" b="0">
                <a:solidFill>
                  <a:srgbClr val="5F6C69"/>
                </a:solidFill>
                <a:latin typeface="SF Pro Display"/>
                <a:ea typeface="SF Pro Display"/>
                <a:cs typeface="SF Pro Display"/>
              </a:defRPr>
            </a:pPr>
            <a:r>
              <a:rPr sz="1800" b="0">
                <a:solidFill>
                  <a:srgbClr val="5F6C69"/>
                </a:solidFill>
                <a:latin typeface="SF Pro Display"/>
                <a:ea typeface="SF Pro Display"/>
                <a:cs typeface="SF Pro Display"/>
              </a:rPr>
              <a:t>Our focus is environmental information</a:t>
            </a:r>
          </a:p>
          <a:p xmlns:a="http://schemas.openxmlformats.org/drawingml/2006/main">
            <a:pPr>
              <a:defRPr sz="1800" b="0">
                <a:solidFill>
                  <a:srgbClr val="5F6C69"/>
                </a:solidFill>
                <a:latin typeface="SF Pro Display"/>
                <a:ea typeface="SF Pro Display"/>
                <a:cs typeface="SF Pro Display"/>
              </a:defRPr>
            </a:pPr>
            <a:r>
              <a:rPr sz="1800" b="0">
                <a:solidFill>
                  <a:srgbClr val="5F6C69"/>
                </a:solidFill>
                <a:latin typeface="SF Pro Display"/>
                <a:ea typeface="SF Pro Display"/>
                <a:cs typeface="SF Pro Display"/>
              </a:rPr>
              <a:t>and everyday farming decisions.</a:t>
            </a:r>
          </a:p>
        </p:txBody>
      </p:sp>
      <p:sp>
        <p:nvSpPr>
          <p:cNvPr id="5" name="Team photo — replace with your group photograph">
            <a:extLst xmlns:a="http://schemas.openxmlformats.org/drawingml/2006/main">
              <a:ext uri="{FF2B5EF4-FFF2-40B4-BE49-F238E27FC236}">
                <a16:creationId xmlns:a16="http://schemas.microsoft.com/office/drawing/2014/main" id="{11999BF3-8403-48A5-8755-6DC5DC3D7623}"/>
              </a:ext>
            </a:extLst>
          </p:cNvPr>
          <p:cNvSpPr>
            <a:spLocks xmlns:a="http://schemas.openxmlformats.org/drawingml/2006/main" noGrp="1"/>
          </p:cNvSpPr>
          <p:nvPr>
            <p:ph type="pic" idx="10"/>
          </p:nvPr>
        </p:nvSpPr>
        <p:spPr>
          <a:xfrm xmlns:a="http://schemas.openxmlformats.org/drawingml/2006/main">
            <a:off x="6210300" y="2000250"/>
            <a:ext cx="5238750" cy="3333750"/>
          </a:xfrm>
          <a:prstGeom xmlns:a="http://schemas.openxmlformats.org/drawingml/2006/main" prst="rect">
            <a:avLst/>
          </a:prstGeom>
          <a:solidFill xmlns:a="http://schemas.openxmlformats.org/drawingml/2006/main">
            <a:srgbClr val="EDF0EB"/>
          </a:solidFill>
          <a:ln xmlns:a="http://schemas.openxmlformats.org/drawingml/2006/main" w="9525">
            <a:solidFill>
              <a:srgbClr val="CBD3CD"/>
            </a:solidFill>
          </a:ln>
        </p:spPr>
        <p:txBody>
          <a:bodyPr xmlns:a="http://schemas.openxmlformats.org/drawingml/2006/main" lIns="190500" tIns="190500" rIns="190500" bIns="190500" anchor="ctr">
            <a:noAutofit/>
          </a:bodyPr>
          <a:lstStyle xmlns:a="http://schemas.openxmlformats.org/drawingml/2006/main">
            <a:defPPr algn="ctr">
              <a:defRPr sz="1875">
                <a:solidFill>
                  <a:srgbClr val="5F6C69"/>
                </a:solidFill>
                <a:latin typeface="SF Pro Display"/>
                <a:ea typeface="SF Pro Display"/>
                <a:cs typeface="SF Pro Display"/>
              </a:defRPr>
            </a:defPPr>
          </a:lstStyle>
          <a:p xmlns:a="http://schemas.openxmlformats.org/drawingml/2006/main">
            <a:pPr algn="ctr">
              <a:defRPr sz="1875">
                <a:solidFill>
                  <a:srgbClr val="5F6C69"/>
                </a:solidFill>
                <a:latin typeface="SF Pro Display"/>
                <a:ea typeface="SF Pro Display"/>
                <a:cs typeface="SF Pro Display"/>
              </a:defRPr>
            </a:pPr>
            <a:r>
              <a:rPr sz="1875">
                <a:solidFill>
                  <a:srgbClr val="5F6C69"/>
                </a:solidFill>
                <a:latin typeface="SF Pro Display"/>
                <a:ea typeface="SF Pro Display"/>
                <a:cs typeface="SF Pro Display"/>
              </a:rPr>
              <a:t>Add your team photo</a:t>
            </a:r>
          </a:p>
        </p:txBody>
      </p:sp>
      <p:sp>
        <p:nvSpPr>
          <p:cNvPr id="6" name="[Names, left to right]">
            <a:extLst xmlns:a="http://schemas.openxmlformats.org/drawingml/2006/main">
              <a:ext uri="{FF2B5EF4-FFF2-40B4-BE49-F238E27FC236}">
                <a16:creationId xmlns:a16="http://schemas.microsoft.com/office/drawing/2014/main" id="{728A1A10-E40D-4E53-8924-99C680FC6DCF}"/>
              </a:ext>
            </a:extLst>
          </p:cNvPr>
          <p:cNvSpPr>
            <a:spLocks xmlns:a="http://schemas.openxmlformats.org/drawingml/2006/main" noGrp="1"/>
          </p:cNvSpPr>
          <p:nvPr/>
        </p:nvSpPr>
        <p:spPr>
          <a:xfrm xmlns:a="http://schemas.openxmlformats.org/drawingml/2006/main">
            <a:off x="6229350" y="5562600"/>
            <a:ext cx="5200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F6C69"/>
                </a:solidFill>
                <a:latin typeface="SF Pro Display"/>
                <a:ea typeface="SF Pro Display"/>
                <a:cs typeface="SF Pro Display"/>
              </a:defRPr>
            </a:defPPr>
          </a:lstStyle>
          <a:p xmlns:a="http://schemas.openxmlformats.org/drawingml/2006/main">
            <a:pPr>
              <a:defRPr sz="1650" b="0">
                <a:solidFill>
                  <a:srgbClr val="5F6C69"/>
                </a:solidFill>
                <a:latin typeface="SF Pro Display"/>
                <a:ea typeface="SF Pro Display"/>
                <a:cs typeface="SF Pro Display"/>
              </a:defRPr>
            </a:pPr>
            <a:r>
              <a:rPr sz="1650" b="0">
                <a:solidFill>
                  <a:srgbClr val="5F6C69"/>
                </a:solidFill>
                <a:latin typeface="SF Pro Display"/>
                <a:ea typeface="SF Pro Display"/>
                <a:cs typeface="SF Pro Display"/>
              </a:rPr>
              <a:t>[Names, left to right]</a:t>
            </a:r>
          </a:p>
        </p:txBody>
      </p:sp>
      <p:sp>
        <p:nvSpPr>
          <p:cNvPr id="7" name="01">
            <a:extLst xmlns:a="http://schemas.openxmlformats.org/drawingml/2006/main">
              <a:ext uri="{FF2B5EF4-FFF2-40B4-BE49-F238E27FC236}">
                <a16:creationId xmlns:a16="http://schemas.microsoft.com/office/drawing/2014/main" id="{BD25A5C4-B6EC-4B22-8F31-1A395FAB1902}"/>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01</a:t>
            </a:r>
          </a:p>
        </p:txBody>
      </p:sp>
    </p:spTree>
    <p:extLst>
      <p:ext uri="{BB962C8B-B14F-4D97-AF65-F5344CB8AC3E}">
        <p14:creationId xmlns:p14="http://schemas.microsoft.com/office/powerpoint/2010/main" val="175473074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0B742310-3A32-4B6D-8E25-3562D36117D5}"/>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02</a:t>
            </a:r>
          </a:p>
        </p:txBody>
      </p:sp>
      <p:sp>
        <p:nvSpPr>
          <p:cNvPr id="2" name="CHALLENGE FINAL">
            <a:extLst xmlns:a="http://schemas.openxmlformats.org/drawingml/2006/main">
              <a:ext uri="{FF2B5EF4-FFF2-40B4-BE49-F238E27FC236}">
                <a16:creationId xmlns:a16="http://schemas.microsoft.com/office/drawing/2014/main" id="{FD5AFCE7-EBF9-4D03-B5B9-D601348A1C0B}"/>
              </a:ext>
            </a:extLst>
          </p:cNvPr>
          <p:cNvSpPr>
            <a:spLocks xmlns:a="http://schemas.openxmlformats.org/drawingml/2006/main" noGrp="1"/>
          </p:cNvSpPr>
          <p:nvPr/>
        </p:nvSpPr>
        <p:spPr>
          <a:xfrm xmlns:a="http://schemas.openxmlformats.org/drawingml/2006/main">
            <a:off x="762000" y="7429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3D6B62"/>
                </a:solidFill>
                <a:latin typeface="SF Pro Display"/>
                <a:ea typeface="SF Pro Display"/>
                <a:cs typeface="SF Pro Display"/>
              </a:defRPr>
            </a:defPPr>
          </a:lstStyle>
          <a:p xmlns:a="http://schemas.openxmlformats.org/drawingml/2006/main">
            <a:pPr>
              <a:buNone/>
              <a:defRPr sz="1350" b="1">
                <a:solidFill>
                  <a:srgbClr val="3D6B62"/>
                </a:solidFill>
                <a:latin typeface="SF Pro Display"/>
                <a:ea typeface="SF Pro Display"/>
                <a:cs typeface="SF Pro Display"/>
              </a:defRPr>
            </a:pPr>
            <a:r>
              <a:rPr sz="1350" b="1">
                <a:solidFill>
                  <a:srgbClr val="3D6B62"/>
                </a:solidFill>
                <a:latin typeface="SF Pro Display"/>
                <a:ea typeface="SF Pro Display"/>
                <a:cs typeface="SF Pro Display"/>
              </a:rPr>
              <a:t>CHALLENGE FINAL</a:t>
            </a:r>
          </a:p>
        </p:txBody>
      </p:sp>
      <p:sp>
        <p:nvSpPr>
          <p:cNvPr id="3" name="Seaweed farming&#10;and ice-ice">
            <a:extLst xmlns:a="http://schemas.openxmlformats.org/drawingml/2006/main">
              <a:ext uri="{FF2B5EF4-FFF2-40B4-BE49-F238E27FC236}">
                <a16:creationId xmlns:a16="http://schemas.microsoft.com/office/drawing/2014/main" id="{095DF10D-D4CC-4DE8-9EC9-6E93352EE948}"/>
              </a:ext>
            </a:extLst>
          </p:cNvPr>
          <p:cNvSpPr>
            <a:spLocks xmlns:a="http://schemas.openxmlformats.org/drawingml/2006/main" noGrp="1"/>
          </p:cNvSpPr>
          <p:nvPr/>
        </p:nvSpPr>
        <p:spPr>
          <a:xfrm xmlns:a="http://schemas.openxmlformats.org/drawingml/2006/main">
            <a:off x="723900" y="1943100"/>
            <a:ext cx="10572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202B2B"/>
                </a:solidFill>
                <a:latin typeface="SF Pro Display"/>
                <a:ea typeface="SF Pro Display"/>
                <a:cs typeface="SF Pro Display"/>
              </a:defRPr>
            </a:defPPr>
          </a:lstStyle>
          <a:p xmlns:a="http://schemas.openxmlformats.org/drawingml/2006/main">
            <a:pPr>
              <a:buNone/>
              <a:defRPr sz="5400" b="1">
                <a:solidFill>
                  <a:srgbClr val="202B2B"/>
                </a:solidFill>
                <a:latin typeface="SF Pro Display"/>
                <a:ea typeface="SF Pro Display"/>
                <a:cs typeface="SF Pro Display"/>
              </a:defRPr>
            </a:pPr>
            <a:r>
              <a:rPr sz="5400" b="1">
                <a:solidFill>
                  <a:srgbClr val="202B2B"/>
                </a:solidFill>
                <a:latin typeface="SF Pro Display"/>
                <a:ea typeface="SF Pro Display"/>
                <a:cs typeface="SF Pro Display"/>
              </a:rPr>
              <a:t>Seaweed farming</a:t>
            </a:r>
          </a:p>
          <a:p xmlns:a="http://schemas.openxmlformats.org/drawingml/2006/main">
            <a:pPr>
              <a:buNone/>
              <a:defRPr sz="5400" b="1">
                <a:solidFill>
                  <a:srgbClr val="202B2B"/>
                </a:solidFill>
                <a:latin typeface="SF Pro Display"/>
                <a:ea typeface="SF Pro Display"/>
                <a:cs typeface="SF Pro Display"/>
              </a:defRPr>
            </a:pPr>
            <a:r>
              <a:rPr sz="5400" b="1">
                <a:solidFill>
                  <a:srgbClr val="202B2B"/>
                </a:solidFill>
                <a:latin typeface="SF Pro Display"/>
                <a:ea typeface="SF Pro Display"/>
                <a:cs typeface="SF Pro Display"/>
              </a:rPr>
              <a:t>and ice-ice</a:t>
            </a:r>
          </a:p>
        </p:txBody>
      </p:sp>
      <p:sp>
        <p:nvSpPr>
          <p:cNvPr id="4" name="Exploring environmental warning signs&#10;with coastal farm">
            <a:extLst xmlns:a="http://schemas.openxmlformats.org/drawingml/2006/main">
              <a:ext uri="{FF2B5EF4-FFF2-40B4-BE49-F238E27FC236}">
                <a16:creationId xmlns:a16="http://schemas.microsoft.com/office/drawing/2014/main" id="{65CABFD1-FD73-4CFB-999D-EB10B3735B5C}"/>
              </a:ext>
            </a:extLst>
          </p:cNvPr>
          <p:cNvSpPr>
            <a:spLocks xmlns:a="http://schemas.openxmlformats.org/drawingml/2006/main" noGrp="1"/>
          </p:cNvSpPr>
          <p:nvPr/>
        </p:nvSpPr>
        <p:spPr>
          <a:xfrm xmlns:a="http://schemas.openxmlformats.org/drawingml/2006/main">
            <a:off x="762000" y="3905250"/>
            <a:ext cx="9620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F6C69"/>
                </a:solidFill>
                <a:latin typeface="SF Pro Display"/>
                <a:ea typeface="SF Pro Display"/>
                <a:cs typeface="SF Pro Display"/>
              </a:defRPr>
            </a:defPPr>
          </a:lstStyle>
          <a:p xmlns:a="http://schemas.openxmlformats.org/drawingml/2006/main">
            <a:pPr>
              <a:buNone/>
              <a:defRPr sz="2250" b="0">
                <a:solidFill>
                  <a:srgbClr val="5F6C69"/>
                </a:solidFill>
                <a:latin typeface="SF Pro Display"/>
                <a:ea typeface="SF Pro Display"/>
                <a:cs typeface="SF Pro Display"/>
              </a:defRPr>
            </a:pPr>
            <a:r>
              <a:rPr sz="2250" b="0">
                <a:solidFill>
                  <a:srgbClr val="5F6C69"/>
                </a:solidFill>
                <a:latin typeface="SF Pro Display"/>
                <a:ea typeface="SF Pro Display"/>
                <a:cs typeface="SF Pro Display"/>
              </a:rPr>
              <a:t>Exploring environmental warning signs</a:t>
            </a:r>
          </a:p>
          <a:p xmlns:a="http://schemas.openxmlformats.org/drawingml/2006/main">
            <a:pPr>
              <a:buNone/>
              <a:defRPr sz="2250" b="0">
                <a:solidFill>
                  <a:srgbClr val="5F6C69"/>
                </a:solidFill>
                <a:latin typeface="SF Pro Display"/>
                <a:ea typeface="SF Pro Display"/>
                <a:cs typeface="SF Pro Display"/>
              </a:defRPr>
            </a:pPr>
            <a:r>
              <a:rPr sz="2250" b="0">
                <a:solidFill>
                  <a:srgbClr val="5F6C69"/>
                </a:solidFill>
                <a:latin typeface="SF Pro Display"/>
                <a:ea typeface="SF Pro Display"/>
                <a:cs typeface="SF Pro Display"/>
              </a:rPr>
              <a:t>with coastal farming communities</a:t>
            </a:r>
          </a:p>
        </p:txBody>
      </p:sp>
      <p:sp>
        <p:nvSpPr>
          <p:cNvPr id="5" name="Project discussion with Prof. Roleda">
            <a:extLst xmlns:a="http://schemas.openxmlformats.org/drawingml/2006/main">
              <a:ext uri="{FF2B5EF4-FFF2-40B4-BE49-F238E27FC236}">
                <a16:creationId xmlns:a16="http://schemas.microsoft.com/office/drawing/2014/main" id="{96EC652D-86E1-4130-A12A-55A53D94B932}"/>
              </a:ext>
            </a:extLst>
          </p:cNvPr>
          <p:cNvSpPr>
            <a:spLocks xmlns:a="http://schemas.openxmlformats.org/drawingml/2006/main" noGrp="1"/>
          </p:cNvSpPr>
          <p:nvPr/>
        </p:nvSpPr>
        <p:spPr>
          <a:xfrm xmlns:a="http://schemas.openxmlformats.org/drawingml/2006/main">
            <a:off x="762000" y="56959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D6B62"/>
                </a:solidFill>
                <a:latin typeface="SF Pro Display"/>
                <a:ea typeface="SF Pro Display"/>
                <a:cs typeface="SF Pro Display"/>
              </a:defRPr>
            </a:defPPr>
          </a:lstStyle>
          <a:p xmlns:a="http://schemas.openxmlformats.org/drawingml/2006/main">
            <a:pPr>
              <a:buNone/>
              <a:defRPr sz="1725" b="0">
                <a:solidFill>
                  <a:srgbClr val="3D6B62"/>
                </a:solidFill>
                <a:latin typeface="SF Pro Display"/>
                <a:ea typeface="SF Pro Display"/>
                <a:cs typeface="SF Pro Display"/>
              </a:defRPr>
            </a:pPr>
            <a:r>
              <a:rPr sz="1725" b="0">
                <a:solidFill>
                  <a:srgbClr val="3D6B62"/>
                </a:solidFill>
                <a:latin typeface="SF Pro Display"/>
                <a:ea typeface="SF Pro Display"/>
                <a:cs typeface="SF Pro Display"/>
              </a:rPr>
              <a:t>Project discussion with Prof. Roleda</a:t>
            </a:r>
          </a:p>
        </p:txBody>
      </p:sp>
    </p:spTree>
    <p:extLst>
      <p:ext uri="{BB962C8B-B14F-4D97-AF65-F5344CB8AC3E}">
        <p14:creationId xmlns:p14="http://schemas.microsoft.com/office/powerpoint/2010/main" val="1252644768"/>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The starting point: Pulau Tidung">
            <a:extLst xmlns:a="http://schemas.openxmlformats.org/drawingml/2006/main">
              <a:ext uri="{FF2B5EF4-FFF2-40B4-BE49-F238E27FC236}">
                <a16:creationId xmlns:a16="http://schemas.microsoft.com/office/drawing/2014/main" id="{89BEAD0A-7230-4770-AC98-79C00F8BA79D}"/>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The starting point: Pulau Tidung</a:t>
            </a:r>
          </a:p>
        </p:txBody>
      </p:sp>
      <p:sp>
        <p:nvSpPr>
          <p:cNvPr id="2" name="02">
            <a:extLst xmlns:a="http://schemas.openxmlformats.org/drawingml/2006/main">
              <a:ext uri="{FF2B5EF4-FFF2-40B4-BE49-F238E27FC236}">
                <a16:creationId xmlns:a16="http://schemas.microsoft.com/office/drawing/2014/main" id="{61A2B826-AA97-4599-907D-7F49AF9BACFD}"/>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03</a:t>
            </a:r>
          </a:p>
        </p:txBody>
      </p:sp>
      <p:sp>
        <p:nvSpPr>
          <p:cNvPr id="3" name="What we heard">
            <a:extLst xmlns:a="http://schemas.openxmlformats.org/drawingml/2006/main">
              <a:ext uri="{FF2B5EF4-FFF2-40B4-BE49-F238E27FC236}">
                <a16:creationId xmlns:a16="http://schemas.microsoft.com/office/drawing/2014/main" id="{AF080056-F5A2-4115-B344-0ED20EC3CA12}"/>
              </a:ext>
            </a:extLst>
          </p:cNvPr>
          <p:cNvSpPr>
            <a:spLocks xmlns:a="http://schemas.openxmlformats.org/drawingml/2006/main" noGrp="1"/>
          </p:cNvSpPr>
          <p:nvPr/>
        </p:nvSpPr>
        <p:spPr>
          <a:xfrm xmlns:a="http://schemas.openxmlformats.org/drawingml/2006/main">
            <a:off x="742950" y="21240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D6B62"/>
                </a:solidFill>
                <a:latin typeface="SF Pro Display"/>
                <a:ea typeface="SF Pro Display"/>
                <a:cs typeface="SF Pro Display"/>
              </a:defRPr>
            </a:defPPr>
          </a:lstStyle>
          <a:p xmlns:a="http://schemas.openxmlformats.org/drawingml/2006/main">
            <a:pPr>
              <a:buNone/>
              <a:defRPr sz="2175" b="1">
                <a:solidFill>
                  <a:srgbClr val="3D6B62"/>
                </a:solidFill>
                <a:latin typeface="SF Pro Display"/>
                <a:ea typeface="SF Pro Display"/>
                <a:cs typeface="SF Pro Display"/>
              </a:defRPr>
            </a:pPr>
            <a:r>
              <a:rPr sz="2175" b="1">
                <a:solidFill>
                  <a:srgbClr val="3D6B62"/>
                </a:solidFill>
                <a:latin typeface="SF Pro Display"/>
                <a:ea typeface="SF Pro Display"/>
                <a:cs typeface="SF Pro Display"/>
              </a:rPr>
              <a:t>What we heard</a:t>
            </a:r>
          </a:p>
        </p:txBody>
      </p:sp>
      <p:sp>
        <p:nvSpPr>
          <p:cNvPr id="4" name="Farmers already inspect crops&#10;and rescue usable plantin">
            <a:extLst xmlns:a="http://schemas.openxmlformats.org/drawingml/2006/main">
              <a:ext uri="{FF2B5EF4-FFF2-40B4-BE49-F238E27FC236}">
                <a16:creationId xmlns:a16="http://schemas.microsoft.com/office/drawing/2014/main" id="{27004A74-4F32-408A-8E65-167036FBB680}"/>
              </a:ext>
            </a:extLst>
          </p:cNvPr>
          <p:cNvSpPr>
            <a:spLocks xmlns:a="http://schemas.openxmlformats.org/drawingml/2006/main" noGrp="1"/>
          </p:cNvSpPr>
          <p:nvPr/>
        </p:nvSpPr>
        <p:spPr>
          <a:xfrm xmlns:a="http://schemas.openxmlformats.org/drawingml/2006/main">
            <a:off x="742950" y="269557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B2B"/>
                </a:solidFill>
                <a:latin typeface="SF Pro Display"/>
                <a:ea typeface="SF Pro Display"/>
                <a:cs typeface="SF Pro Display"/>
              </a:defRPr>
            </a:defPPr>
          </a:lstStyle>
          <a:p xmlns:a="http://schemas.openxmlformats.org/drawingml/2006/main">
            <a:pPr>
              <a:buNone/>
              <a:defRPr sz="2250" b="0">
                <a:solidFill>
                  <a:srgbClr val="202B2B"/>
                </a:solidFill>
                <a:latin typeface="SF Pro Display"/>
                <a:ea typeface="SF Pro Display"/>
                <a:cs typeface="SF Pro Display"/>
              </a:defRPr>
            </a:pPr>
            <a:r>
              <a:rPr sz="2250" b="0">
                <a:solidFill>
                  <a:srgbClr val="202B2B"/>
                </a:solidFill>
                <a:latin typeface="SF Pro Display"/>
                <a:ea typeface="SF Pro Display"/>
                <a:cs typeface="SF Pro Display"/>
              </a:rPr>
              <a:t>Farmers already inspect crops</a:t>
            </a:r>
          </a:p>
          <a:p xmlns:a="http://schemas.openxmlformats.org/drawingml/2006/main">
            <a:pPr>
              <a:buNone/>
              <a:defRPr sz="2250" b="0">
                <a:solidFill>
                  <a:srgbClr val="202B2B"/>
                </a:solidFill>
                <a:latin typeface="SF Pro Display"/>
                <a:ea typeface="SF Pro Display"/>
                <a:cs typeface="SF Pro Display"/>
              </a:defRPr>
            </a:pPr>
            <a:r>
              <a:rPr sz="2250" b="0">
                <a:solidFill>
                  <a:srgbClr val="202B2B"/>
                </a:solidFill>
                <a:latin typeface="SF Pro Display"/>
                <a:ea typeface="SF Pro Display"/>
                <a:cs typeface="SF Pro Display"/>
              </a:rPr>
              <a:t>and rescue usable planting material</a:t>
            </a:r>
          </a:p>
          <a:p xmlns:a="http://schemas.openxmlformats.org/drawingml/2006/main">
            <a:pPr>
              <a:buNone/>
              <a:defRPr sz="2250" b="0">
                <a:solidFill>
                  <a:srgbClr val="202B2B"/>
                </a:solidFill>
                <a:latin typeface="SF Pro Display"/>
                <a:ea typeface="SF Pro Display"/>
                <a:cs typeface="SF Pro Display"/>
              </a:defRPr>
            </a:pPr>
            <a:r>
              <a:rPr sz="2250" b="0">
                <a:solidFill>
                  <a:srgbClr val="202B2B"/>
                </a:solidFill>
                <a:latin typeface="SF Pro Display"/>
                <a:ea typeface="SF Pro Display"/>
                <a:cs typeface="SF Pro Display"/>
              </a:rPr>
              <a:t>when problems appear.</a:t>
            </a:r>
          </a:p>
        </p:txBody>
      </p:sp>
      <p:sp>
        <p:nvSpPr>
          <p:cNvPr id="5" name="What we want to understand">
            <a:extLst xmlns:a="http://schemas.openxmlformats.org/drawingml/2006/main">
              <a:ext uri="{FF2B5EF4-FFF2-40B4-BE49-F238E27FC236}">
                <a16:creationId xmlns:a16="http://schemas.microsoft.com/office/drawing/2014/main" id="{D2651AAB-FAF0-41CD-8062-C9A697299E76}"/>
              </a:ext>
            </a:extLst>
          </p:cNvPr>
          <p:cNvSpPr>
            <a:spLocks xmlns:a="http://schemas.openxmlformats.org/drawingml/2006/main" noGrp="1"/>
          </p:cNvSpPr>
          <p:nvPr/>
        </p:nvSpPr>
        <p:spPr>
          <a:xfrm xmlns:a="http://schemas.openxmlformats.org/drawingml/2006/main">
            <a:off x="6477000" y="21240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D6B62"/>
                </a:solidFill>
                <a:latin typeface="SF Pro Display"/>
                <a:ea typeface="SF Pro Display"/>
                <a:cs typeface="SF Pro Display"/>
              </a:defRPr>
            </a:defPPr>
          </a:lstStyle>
          <a:p xmlns:a="http://schemas.openxmlformats.org/drawingml/2006/main">
            <a:pPr>
              <a:buNone/>
              <a:defRPr sz="2175" b="1">
                <a:solidFill>
                  <a:srgbClr val="3D6B62"/>
                </a:solidFill>
                <a:latin typeface="SF Pro Display"/>
                <a:ea typeface="SF Pro Display"/>
                <a:cs typeface="SF Pro Display"/>
              </a:defRPr>
            </a:pPr>
            <a:r>
              <a:rPr sz="2175" b="1">
                <a:solidFill>
                  <a:srgbClr val="3D6B62"/>
                </a:solidFill>
                <a:latin typeface="SF Pro Display"/>
                <a:ea typeface="SF Pro Display"/>
                <a:cs typeface="SF Pro Display"/>
              </a:rPr>
              <a:t>What we want to understand</a:t>
            </a:r>
          </a:p>
        </p:txBody>
      </p:sp>
      <p:sp>
        <p:nvSpPr>
          <p:cNvPr id="6" name="Could earlier information help&#10;advocates decide when an">
            <a:extLst xmlns:a="http://schemas.openxmlformats.org/drawingml/2006/main">
              <a:ext uri="{FF2B5EF4-FFF2-40B4-BE49-F238E27FC236}">
                <a16:creationId xmlns:a16="http://schemas.microsoft.com/office/drawing/2014/main" id="{B92AA6BF-EA86-4C34-918E-27CAD18CC60D}"/>
              </a:ext>
            </a:extLst>
          </p:cNvPr>
          <p:cNvSpPr>
            <a:spLocks xmlns:a="http://schemas.openxmlformats.org/drawingml/2006/main" noGrp="1"/>
          </p:cNvSpPr>
          <p:nvPr/>
        </p:nvSpPr>
        <p:spPr>
          <a:xfrm xmlns:a="http://schemas.openxmlformats.org/drawingml/2006/main">
            <a:off x="6477000" y="269557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B2B"/>
                </a:solidFill>
                <a:latin typeface="SF Pro Display"/>
                <a:ea typeface="SF Pro Display"/>
                <a:cs typeface="SF Pro Display"/>
              </a:defRPr>
            </a:defPPr>
          </a:lstStyle>
          <a:p xmlns:a="http://schemas.openxmlformats.org/drawingml/2006/main">
            <a:pPr>
              <a:buNone/>
              <a:defRPr sz="2250" b="0">
                <a:solidFill>
                  <a:srgbClr val="202B2B"/>
                </a:solidFill>
                <a:latin typeface="SF Pro Display"/>
                <a:ea typeface="SF Pro Display"/>
                <a:cs typeface="SF Pro Display"/>
              </a:defRPr>
            </a:pPr>
            <a:r>
              <a:rPr sz="2250" b="0">
                <a:solidFill>
                  <a:srgbClr val="202B2B"/>
                </a:solidFill>
                <a:latin typeface="SF Pro Display"/>
                <a:ea typeface="SF Pro Display"/>
                <a:cs typeface="SF Pro Display"/>
              </a:rPr>
              <a:t>Could earlier information help</a:t>
            </a:r>
          </a:p>
          <a:p xmlns:a="http://schemas.openxmlformats.org/drawingml/2006/main">
            <a:pPr>
              <a:buNone/>
              <a:defRPr sz="2250" b="0">
                <a:solidFill>
                  <a:srgbClr val="202B2B"/>
                </a:solidFill>
                <a:latin typeface="SF Pro Display"/>
                <a:ea typeface="SF Pro Display"/>
                <a:cs typeface="SF Pro Display"/>
              </a:defRPr>
            </a:pPr>
            <a:r>
              <a:rPr sz="2250" b="0">
                <a:solidFill>
                  <a:srgbClr val="202B2B"/>
                </a:solidFill>
                <a:latin typeface="SF Pro Display"/>
                <a:ea typeface="SF Pro Display"/>
                <a:cs typeface="SF Pro Display"/>
              </a:rPr>
              <a:t>advocates decide when and</a:t>
            </a:r>
          </a:p>
          <a:p xmlns:a="http://schemas.openxmlformats.org/drawingml/2006/main">
            <a:pPr>
              <a:buNone/>
              <a:defRPr sz="2250" b="0">
                <a:solidFill>
                  <a:srgbClr val="202B2B"/>
                </a:solidFill>
                <a:latin typeface="SF Pro Display"/>
                <a:ea typeface="SF Pro Display"/>
                <a:cs typeface="SF Pro Display"/>
              </a:defRPr>
            </a:pPr>
            <a:r>
              <a:rPr sz="2250" b="0">
                <a:solidFill>
                  <a:srgbClr val="202B2B"/>
                </a:solidFill>
                <a:latin typeface="SF Pro Display"/>
                <a:ea typeface="SF Pro Display"/>
                <a:cs typeface="SF Pro Display"/>
              </a:rPr>
              <a:t>where to inspect?</a:t>
            </a:r>
          </a:p>
        </p:txBody>
      </p:sp>
      <p:sp>
        <p:nvSpPr>
          <p:cNvPr id="7" name="Initial interview accounts. Local causes and warning ti">
            <a:extLst xmlns:a="http://schemas.openxmlformats.org/drawingml/2006/main">
              <a:ext uri="{FF2B5EF4-FFF2-40B4-BE49-F238E27FC236}">
                <a16:creationId xmlns:a16="http://schemas.microsoft.com/office/drawing/2014/main" id="{02EBF0E1-0284-465E-8399-8891D44ABD48}"/>
              </a:ext>
            </a:extLst>
          </p:cNvPr>
          <p:cNvSpPr>
            <a:spLocks xmlns:a="http://schemas.openxmlformats.org/drawingml/2006/main" noGrp="1"/>
          </p:cNvSpPr>
          <p:nvPr/>
        </p:nvSpPr>
        <p:spPr>
          <a:xfrm xmlns:a="http://schemas.openxmlformats.org/drawingml/2006/main">
            <a:off x="762000" y="52387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F6C69"/>
                </a:solidFill>
                <a:latin typeface="SF Pro Display"/>
                <a:ea typeface="SF Pro Display"/>
                <a:cs typeface="SF Pro Display"/>
              </a:defRPr>
            </a:defPPr>
          </a:lstStyle>
          <a:p xmlns:a="http://schemas.openxmlformats.org/drawingml/2006/main">
            <a:pPr>
              <a:buNone/>
              <a:defRPr sz="1650" b="0">
                <a:solidFill>
                  <a:srgbClr val="5F6C69"/>
                </a:solidFill>
                <a:latin typeface="SF Pro Display"/>
                <a:ea typeface="SF Pro Display"/>
                <a:cs typeface="SF Pro Display"/>
              </a:defRPr>
            </a:pPr>
            <a:r>
              <a:rPr sz="1650" b="0">
                <a:solidFill>
                  <a:srgbClr val="5F6C69"/>
                </a:solidFill>
                <a:latin typeface="SF Pro Display"/>
                <a:ea typeface="SF Pro Display"/>
                <a:cs typeface="SF Pro Display"/>
              </a:rPr>
              <a:t>Initial interview accounts. Local causes and warning time still need verification.</a:t>
            </a:r>
          </a:p>
        </p:txBody>
      </p:sp>
    </p:spTree>
    <p:extLst>
      <p:ext uri="{BB962C8B-B14F-4D97-AF65-F5344CB8AC3E}">
        <p14:creationId xmlns:p14="http://schemas.microsoft.com/office/powerpoint/2010/main" val="335210641"/>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Our current understanding of ice-ice">
            <a:extLst xmlns:a="http://schemas.openxmlformats.org/drawingml/2006/main">
              <a:ext uri="{FF2B5EF4-FFF2-40B4-BE49-F238E27FC236}">
                <a16:creationId xmlns:a16="http://schemas.microsoft.com/office/drawing/2014/main" id="{B24A4F39-3A58-4CD5-BD06-BF574E05E8A8}"/>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Our current understanding of ice-ice</a:t>
            </a:r>
          </a:p>
        </p:txBody>
      </p:sp>
      <p:sp>
        <p:nvSpPr>
          <p:cNvPr id="2" name="03">
            <a:extLst xmlns:a="http://schemas.openxmlformats.org/drawingml/2006/main">
              <a:ext uri="{FF2B5EF4-FFF2-40B4-BE49-F238E27FC236}">
                <a16:creationId xmlns:a16="http://schemas.microsoft.com/office/drawing/2014/main" id="{7CF221BB-1B4B-4EBC-9C20-E57E473AC66B}"/>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04</a:t>
            </a:r>
          </a:p>
        </p:txBody>
      </p:sp>
      <p:sp>
        <p:nvSpPr>
          <p:cNvPr id="3" name="01">
            <a:extLst xmlns:a="http://schemas.openxmlformats.org/drawingml/2006/main">
              <a:ext uri="{FF2B5EF4-FFF2-40B4-BE49-F238E27FC236}">
                <a16:creationId xmlns:a16="http://schemas.microsoft.com/office/drawing/2014/main" id="{71E9616C-88EE-4CC5-B07E-8B32FB741B92}"/>
              </a:ext>
            </a:extLst>
          </p:cNvPr>
          <p:cNvSpPr>
            <a:spLocks xmlns:a="http://schemas.openxmlformats.org/drawingml/2006/main" noGrp="1"/>
          </p:cNvSpPr>
          <p:nvPr/>
        </p:nvSpPr>
        <p:spPr>
          <a:xfrm xmlns:a="http://schemas.openxmlformats.org/drawingml/2006/main">
            <a:off x="742950" y="194310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D6B62"/>
                </a:solidFill>
                <a:latin typeface="SF Pro Display"/>
                <a:ea typeface="SF Pro Display"/>
                <a:cs typeface="SF Pro Display"/>
              </a:defRPr>
            </a:defPPr>
          </a:lstStyle>
          <a:p xmlns:a="http://schemas.openxmlformats.org/drawingml/2006/main">
            <a:pPr>
              <a:buNone/>
              <a:defRPr sz="1950" b="0">
                <a:solidFill>
                  <a:srgbClr val="3D6B62"/>
                </a:solidFill>
                <a:latin typeface="SF Pro Display"/>
                <a:ea typeface="SF Pro Display"/>
                <a:cs typeface="SF Pro Display"/>
              </a:defRPr>
            </a:pPr>
            <a:r>
              <a:rPr sz="1950" b="0">
                <a:solidFill>
                  <a:srgbClr val="3D6B62"/>
                </a:solidFill>
                <a:latin typeface="SF Pro Display"/>
                <a:ea typeface="SF Pro Display"/>
                <a:cs typeface="SF Pro Display"/>
              </a:rPr>
              <a:t>01</a:t>
            </a:r>
          </a:p>
        </p:txBody>
      </p:sp>
      <p:sp>
        <p:nvSpPr>
          <p:cNvPr id="4" name="Environmental exposure">
            <a:extLst xmlns:a="http://schemas.openxmlformats.org/drawingml/2006/main">
              <a:ext uri="{FF2B5EF4-FFF2-40B4-BE49-F238E27FC236}">
                <a16:creationId xmlns:a16="http://schemas.microsoft.com/office/drawing/2014/main" id="{B173ED72-492F-4620-BD6E-5F5EAE8FA8D3}"/>
              </a:ext>
            </a:extLst>
          </p:cNvPr>
          <p:cNvSpPr>
            <a:spLocks xmlns:a="http://schemas.openxmlformats.org/drawingml/2006/main" noGrp="1"/>
          </p:cNvSpPr>
          <p:nvPr/>
        </p:nvSpPr>
        <p:spPr>
          <a:xfrm xmlns:a="http://schemas.openxmlformats.org/drawingml/2006/main">
            <a:off x="1476375" y="19240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B2B"/>
                </a:solidFill>
                <a:latin typeface="SF Pro Display"/>
                <a:ea typeface="SF Pro Display"/>
                <a:cs typeface="SF Pro Display"/>
              </a:defRPr>
            </a:defPPr>
          </a:lstStyle>
          <a:p xmlns:a="http://schemas.openxmlformats.org/drawingml/2006/main">
            <a:pPr>
              <a:buNone/>
              <a:defRPr sz="2175" b="1">
                <a:solidFill>
                  <a:srgbClr val="202B2B"/>
                </a:solidFill>
                <a:latin typeface="SF Pro Display"/>
                <a:ea typeface="SF Pro Display"/>
                <a:cs typeface="SF Pro Display"/>
              </a:defRPr>
            </a:pPr>
            <a:r>
              <a:rPr sz="2175" b="1">
                <a:solidFill>
                  <a:srgbClr val="202B2B"/>
                </a:solidFill>
                <a:latin typeface="SF Pro Display"/>
                <a:ea typeface="SF Pro Display"/>
                <a:cs typeface="SF Pro Display"/>
              </a:rPr>
              <a:t>Environmental exposure</a:t>
            </a:r>
          </a:p>
        </p:txBody>
      </p:sp>
      <p:sp>
        <p:nvSpPr>
          <p:cNvPr id="5" name="Temperature, salinity and light can contribute to stres">
            <a:extLst xmlns:a="http://schemas.openxmlformats.org/drawingml/2006/main">
              <a:ext uri="{FF2B5EF4-FFF2-40B4-BE49-F238E27FC236}">
                <a16:creationId xmlns:a16="http://schemas.microsoft.com/office/drawing/2014/main" id="{46471FA4-5CC8-4958-A23E-DC89F832714C}"/>
              </a:ext>
            </a:extLst>
          </p:cNvPr>
          <p:cNvSpPr>
            <a:spLocks xmlns:a="http://schemas.openxmlformats.org/drawingml/2006/main" noGrp="1"/>
          </p:cNvSpPr>
          <p:nvPr/>
        </p:nvSpPr>
        <p:spPr>
          <a:xfrm xmlns:a="http://schemas.openxmlformats.org/drawingml/2006/main">
            <a:off x="1476375" y="240982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F6C69"/>
                </a:solidFill>
                <a:latin typeface="SF Pro Display"/>
                <a:ea typeface="SF Pro Display"/>
                <a:cs typeface="SF Pro Display"/>
              </a:defRPr>
            </a:defPPr>
          </a:lstStyle>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Temperature, salinity and light can contribute to stress.</a:t>
            </a:r>
          </a:p>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Species and exposure duration affect the response.</a:t>
            </a:r>
          </a:p>
        </p:txBody>
      </p:sp>
      <p:sp>
        <p:nvSpPr>
          <p:cNvPr id="6" name="02">
            <a:extLst xmlns:a="http://schemas.openxmlformats.org/drawingml/2006/main">
              <a:ext uri="{FF2B5EF4-FFF2-40B4-BE49-F238E27FC236}">
                <a16:creationId xmlns:a16="http://schemas.microsoft.com/office/drawing/2014/main" id="{0D032997-8C48-4BDA-9377-28E381444367}"/>
              </a:ext>
            </a:extLst>
          </p:cNvPr>
          <p:cNvSpPr>
            <a:spLocks xmlns:a="http://schemas.openxmlformats.org/drawingml/2006/main" noGrp="1"/>
          </p:cNvSpPr>
          <p:nvPr/>
        </p:nvSpPr>
        <p:spPr>
          <a:xfrm xmlns:a="http://schemas.openxmlformats.org/drawingml/2006/main">
            <a:off x="742950" y="3286125"/>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D6B62"/>
                </a:solidFill>
                <a:latin typeface="SF Pro Display"/>
                <a:ea typeface="SF Pro Display"/>
                <a:cs typeface="SF Pro Display"/>
              </a:defRPr>
            </a:defPPr>
          </a:lstStyle>
          <a:p xmlns:a="http://schemas.openxmlformats.org/drawingml/2006/main">
            <a:pPr>
              <a:buNone/>
              <a:defRPr sz="1950" b="0">
                <a:solidFill>
                  <a:srgbClr val="3D6B62"/>
                </a:solidFill>
                <a:latin typeface="SF Pro Display"/>
                <a:ea typeface="SF Pro Display"/>
                <a:cs typeface="SF Pro Display"/>
              </a:defRPr>
            </a:pPr>
            <a:r>
              <a:rPr sz="1950" b="0">
                <a:solidFill>
                  <a:srgbClr val="3D6B62"/>
                </a:solidFill>
                <a:latin typeface="SF Pro Display"/>
                <a:ea typeface="SF Pro Display"/>
                <a:cs typeface="SF Pro Display"/>
              </a:rPr>
              <a:t>02</a:t>
            </a:r>
          </a:p>
        </p:txBody>
      </p:sp>
      <p:sp>
        <p:nvSpPr>
          <p:cNvPr id="7" name="Plant condition and farming practice">
            <a:extLst xmlns:a="http://schemas.openxmlformats.org/drawingml/2006/main">
              <a:ext uri="{FF2B5EF4-FFF2-40B4-BE49-F238E27FC236}">
                <a16:creationId xmlns:a16="http://schemas.microsoft.com/office/drawing/2014/main" id="{562DDF27-C579-427A-AE5A-F8756F06E263}"/>
              </a:ext>
            </a:extLst>
          </p:cNvPr>
          <p:cNvSpPr>
            <a:spLocks xmlns:a="http://schemas.openxmlformats.org/drawingml/2006/main" noGrp="1"/>
          </p:cNvSpPr>
          <p:nvPr/>
        </p:nvSpPr>
        <p:spPr>
          <a:xfrm xmlns:a="http://schemas.openxmlformats.org/drawingml/2006/main">
            <a:off x="1476375" y="3267075"/>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B2B"/>
                </a:solidFill>
                <a:latin typeface="SF Pro Display"/>
                <a:ea typeface="SF Pro Display"/>
                <a:cs typeface="SF Pro Display"/>
              </a:defRPr>
            </a:defPPr>
          </a:lstStyle>
          <a:p xmlns:a="http://schemas.openxmlformats.org/drawingml/2006/main">
            <a:pPr>
              <a:buNone/>
              <a:defRPr sz="2175" b="1">
                <a:solidFill>
                  <a:srgbClr val="202B2B"/>
                </a:solidFill>
                <a:latin typeface="SF Pro Display"/>
                <a:ea typeface="SF Pro Display"/>
                <a:cs typeface="SF Pro Display"/>
              </a:defRPr>
            </a:pPr>
            <a:r>
              <a:rPr sz="2175" b="1">
                <a:solidFill>
                  <a:srgbClr val="202B2B"/>
                </a:solidFill>
                <a:latin typeface="SF Pro Display"/>
                <a:ea typeface="SF Pro Display"/>
                <a:cs typeface="SF Pro Display"/>
              </a:rPr>
              <a:t>Plant condition and farming practice</a:t>
            </a:r>
          </a:p>
        </p:txBody>
      </p:sp>
      <p:sp>
        <p:nvSpPr>
          <p:cNvPr id="8" name="Seedstock condition, wounds and fouling are relevant&#10;to">
            <a:extLst xmlns:a="http://schemas.openxmlformats.org/drawingml/2006/main">
              <a:ext uri="{FF2B5EF4-FFF2-40B4-BE49-F238E27FC236}">
                <a16:creationId xmlns:a16="http://schemas.microsoft.com/office/drawing/2014/main" id="{D65AB0C4-8F95-4C70-8694-982B03F44C04}"/>
              </a:ext>
            </a:extLst>
          </p:cNvPr>
          <p:cNvSpPr>
            <a:spLocks xmlns:a="http://schemas.openxmlformats.org/drawingml/2006/main" noGrp="1"/>
          </p:cNvSpPr>
          <p:nvPr/>
        </p:nvSpPr>
        <p:spPr>
          <a:xfrm xmlns:a="http://schemas.openxmlformats.org/drawingml/2006/main">
            <a:off x="1476375" y="37528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F6C69"/>
                </a:solidFill>
                <a:latin typeface="SF Pro Display"/>
                <a:ea typeface="SF Pro Display"/>
                <a:cs typeface="SF Pro Display"/>
              </a:defRPr>
            </a:defPPr>
          </a:lstStyle>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Seedstock condition, wounds and fouling are relevant</a:t>
            </a:r>
          </a:p>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to how we observe and interpret crop health.</a:t>
            </a:r>
          </a:p>
        </p:txBody>
      </p:sp>
      <p:sp>
        <p:nvSpPr>
          <p:cNvPr id="9" name="03">
            <a:extLst xmlns:a="http://schemas.openxmlformats.org/drawingml/2006/main">
              <a:ext uri="{FF2B5EF4-FFF2-40B4-BE49-F238E27FC236}">
                <a16:creationId xmlns:a16="http://schemas.microsoft.com/office/drawing/2014/main" id="{60DF0342-EDD2-4F33-94C1-D95F2099138E}"/>
              </a:ext>
            </a:extLst>
          </p:cNvPr>
          <p:cNvSpPr>
            <a:spLocks xmlns:a="http://schemas.openxmlformats.org/drawingml/2006/main" noGrp="1"/>
          </p:cNvSpPr>
          <p:nvPr/>
        </p:nvSpPr>
        <p:spPr>
          <a:xfrm xmlns:a="http://schemas.openxmlformats.org/drawingml/2006/main">
            <a:off x="742950" y="462915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D6B62"/>
                </a:solidFill>
                <a:latin typeface="SF Pro Display"/>
                <a:ea typeface="SF Pro Display"/>
                <a:cs typeface="SF Pro Display"/>
              </a:defRPr>
            </a:defPPr>
          </a:lstStyle>
          <a:p xmlns:a="http://schemas.openxmlformats.org/drawingml/2006/main">
            <a:pPr>
              <a:buNone/>
              <a:defRPr sz="1950" b="0">
                <a:solidFill>
                  <a:srgbClr val="3D6B62"/>
                </a:solidFill>
                <a:latin typeface="SF Pro Display"/>
                <a:ea typeface="SF Pro Display"/>
                <a:cs typeface="SF Pro Display"/>
              </a:defRPr>
            </a:pPr>
            <a:r>
              <a:rPr sz="1950" b="0">
                <a:solidFill>
                  <a:srgbClr val="3D6B62"/>
                </a:solidFill>
                <a:latin typeface="SF Pro Display"/>
                <a:ea typeface="SF Pro Display"/>
                <a:cs typeface="SF Pro Display"/>
              </a:rPr>
              <a:t>03</a:t>
            </a:r>
          </a:p>
        </p:txBody>
      </p:sp>
      <p:sp>
        <p:nvSpPr>
          <p:cNvPr id="10" name="Microbial involvement">
            <a:extLst xmlns:a="http://schemas.openxmlformats.org/drawingml/2006/main">
              <a:ext uri="{FF2B5EF4-FFF2-40B4-BE49-F238E27FC236}">
                <a16:creationId xmlns:a16="http://schemas.microsoft.com/office/drawing/2014/main" id="{CC389FDF-58DB-432B-B0F1-013D58299A11}"/>
              </a:ext>
            </a:extLst>
          </p:cNvPr>
          <p:cNvSpPr>
            <a:spLocks xmlns:a="http://schemas.openxmlformats.org/drawingml/2006/main" noGrp="1"/>
          </p:cNvSpPr>
          <p:nvPr/>
        </p:nvSpPr>
        <p:spPr>
          <a:xfrm xmlns:a="http://schemas.openxmlformats.org/drawingml/2006/main">
            <a:off x="1476375" y="461010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B2B"/>
                </a:solidFill>
                <a:latin typeface="SF Pro Display"/>
                <a:ea typeface="SF Pro Display"/>
                <a:cs typeface="SF Pro Display"/>
              </a:defRPr>
            </a:defPPr>
          </a:lstStyle>
          <a:p xmlns:a="http://schemas.openxmlformats.org/drawingml/2006/main">
            <a:pPr>
              <a:buNone/>
              <a:defRPr sz="2175" b="1">
                <a:solidFill>
                  <a:srgbClr val="202B2B"/>
                </a:solidFill>
                <a:latin typeface="SF Pro Display"/>
                <a:ea typeface="SF Pro Display"/>
                <a:cs typeface="SF Pro Display"/>
              </a:defRPr>
            </a:pPr>
            <a:r>
              <a:rPr sz="2175" b="1">
                <a:solidFill>
                  <a:srgbClr val="202B2B"/>
                </a:solidFill>
                <a:latin typeface="SF Pro Display"/>
                <a:ea typeface="SF Pro Display"/>
                <a:cs typeface="SF Pro Display"/>
              </a:rPr>
              <a:t>Microbial involvement</a:t>
            </a:r>
          </a:p>
        </p:txBody>
      </p:sp>
      <p:sp>
        <p:nvSpPr>
          <p:cNvPr id="11" name="Microbes can contribute to tissue damage.&#10;Environmental">
            <a:extLst xmlns:a="http://schemas.openxmlformats.org/drawingml/2006/main">
              <a:ext uri="{FF2B5EF4-FFF2-40B4-BE49-F238E27FC236}">
                <a16:creationId xmlns:a16="http://schemas.microsoft.com/office/drawing/2014/main" id="{477B0276-292C-4AFC-B8BA-920AF17831CC}"/>
              </a:ext>
            </a:extLst>
          </p:cNvPr>
          <p:cNvSpPr>
            <a:spLocks xmlns:a="http://schemas.openxmlformats.org/drawingml/2006/main" noGrp="1"/>
          </p:cNvSpPr>
          <p:nvPr/>
        </p:nvSpPr>
        <p:spPr>
          <a:xfrm xmlns:a="http://schemas.openxmlformats.org/drawingml/2006/main">
            <a:off x="1476375" y="50958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F6C69"/>
                </a:solidFill>
                <a:latin typeface="SF Pro Display"/>
                <a:ea typeface="SF Pro Display"/>
                <a:cs typeface="SF Pro Display"/>
              </a:defRPr>
            </a:defPPr>
          </a:lstStyle>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Microbes can contribute to tissue damage.</a:t>
            </a:r>
          </a:p>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Environmental readings alone cannot confirm ice-ice.</a:t>
            </a:r>
          </a:p>
        </p:txBody>
      </p:sp>
    </p:spTree>
    <p:extLst>
      <p:ext uri="{BB962C8B-B14F-4D97-AF65-F5344CB8AC3E}">
        <p14:creationId xmlns:p14="http://schemas.microsoft.com/office/powerpoint/2010/main" val="1929132630"/>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he proposed experience">
            <a:extLst xmlns:a="http://schemas.openxmlformats.org/drawingml/2006/main">
              <a:ext uri="{FF2B5EF4-FFF2-40B4-BE49-F238E27FC236}">
                <a16:creationId xmlns:a16="http://schemas.microsoft.com/office/drawing/2014/main" id="{DC6F5E67-0CBC-4CEE-A6F3-21595F4B283F}"/>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The proposed experience</a:t>
            </a:r>
          </a:p>
        </p:txBody>
      </p:sp>
      <p:sp>
        <p:nvSpPr>
          <p:cNvPr id="2" name="04">
            <a:extLst xmlns:a="http://schemas.openxmlformats.org/drawingml/2006/main">
              <a:ext uri="{FF2B5EF4-FFF2-40B4-BE49-F238E27FC236}">
                <a16:creationId xmlns:a16="http://schemas.microsoft.com/office/drawing/2014/main" id="{B2CB9CB4-3A6D-464E-967C-E405C3E7F5EE}"/>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05</a:t>
            </a:r>
          </a:p>
        </p:txBody>
      </p:sp>
      <p:sp>
        <p:nvSpPr>
          <p:cNvPr id="3" name="Which plot needs&#10;attention today?">
            <a:extLst xmlns:a="http://schemas.openxmlformats.org/drawingml/2006/main">
              <a:ext uri="{FF2B5EF4-FFF2-40B4-BE49-F238E27FC236}">
                <a16:creationId xmlns:a16="http://schemas.microsoft.com/office/drawing/2014/main" id="{5092AF29-5C8F-4117-8F05-9A2BDCF8AFFA}"/>
              </a:ext>
            </a:extLst>
          </p:cNvPr>
          <p:cNvSpPr>
            <a:spLocks xmlns:a="http://schemas.openxmlformats.org/drawingml/2006/main" noGrp="1"/>
          </p:cNvSpPr>
          <p:nvPr/>
        </p:nvSpPr>
        <p:spPr>
          <a:xfrm xmlns:a="http://schemas.openxmlformats.org/drawingml/2006/main">
            <a:off x="742950" y="2076450"/>
            <a:ext cx="51435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3D6B62"/>
                </a:solidFill>
                <a:latin typeface="SF Pro Display"/>
                <a:ea typeface="SF Pro Display"/>
                <a:cs typeface="SF Pro Display"/>
              </a:defRPr>
            </a:defPPr>
          </a:lstStyle>
          <a:p xmlns:a="http://schemas.openxmlformats.org/drawingml/2006/main">
            <a:pPr>
              <a:buNone/>
              <a:defRPr sz="3525" b="1">
                <a:solidFill>
                  <a:srgbClr val="3D6B62"/>
                </a:solidFill>
                <a:latin typeface="SF Pro Display"/>
                <a:ea typeface="SF Pro Display"/>
                <a:cs typeface="SF Pro Display"/>
              </a:defRPr>
            </a:pPr>
            <a:r>
              <a:rPr sz="3525" b="1">
                <a:solidFill>
                  <a:srgbClr val="3D6B62"/>
                </a:solidFill>
                <a:latin typeface="SF Pro Display"/>
                <a:ea typeface="SF Pro Display"/>
                <a:cs typeface="SF Pro Display"/>
              </a:rPr>
              <a:t>Which plot needs</a:t>
            </a:r>
          </a:p>
          <a:p xmlns:a="http://schemas.openxmlformats.org/drawingml/2006/main">
            <a:pPr>
              <a:buNone/>
              <a:defRPr sz="3525" b="1">
                <a:solidFill>
                  <a:srgbClr val="3D6B62"/>
                </a:solidFill>
                <a:latin typeface="SF Pro Display"/>
                <a:ea typeface="SF Pro Display"/>
                <a:cs typeface="SF Pro Display"/>
              </a:defRPr>
            </a:pPr>
            <a:r>
              <a:rPr sz="3525" b="1">
                <a:solidFill>
                  <a:srgbClr val="3D6B62"/>
                </a:solidFill>
                <a:latin typeface="SF Pro Display"/>
                <a:ea typeface="SF Pro Display"/>
                <a:cs typeface="SF Pro Display"/>
              </a:rPr>
              <a:t>attention today?</a:t>
            </a:r>
          </a:p>
        </p:txBody>
      </p:sp>
      <p:sp>
        <p:nvSpPr>
          <p:cNvPr id="4" name="For community advocates&#10;who support seaweed farmers">
            <a:extLst xmlns:a="http://schemas.openxmlformats.org/drawingml/2006/main">
              <a:ext uri="{FF2B5EF4-FFF2-40B4-BE49-F238E27FC236}">
                <a16:creationId xmlns:a16="http://schemas.microsoft.com/office/drawing/2014/main" id="{6C8C9AC5-A526-459C-AB8A-0E4C2CEAC14A}"/>
              </a:ext>
            </a:extLst>
          </p:cNvPr>
          <p:cNvSpPr>
            <a:spLocks xmlns:a="http://schemas.openxmlformats.org/drawingml/2006/main" noGrp="1"/>
          </p:cNvSpPr>
          <p:nvPr/>
        </p:nvSpPr>
        <p:spPr>
          <a:xfrm xmlns:a="http://schemas.openxmlformats.org/drawingml/2006/main">
            <a:off x="762000" y="4019550"/>
            <a:ext cx="5000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F6C69"/>
                </a:solidFill>
                <a:latin typeface="SF Pro Display"/>
                <a:ea typeface="SF Pro Display"/>
                <a:cs typeface="SF Pro Display"/>
              </a:defRPr>
            </a:defPPr>
          </a:lstStyle>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For community advocates</a:t>
            </a:r>
          </a:p>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who support seaweed farmers</a:t>
            </a:r>
          </a:p>
        </p:txBody>
      </p:sp>
      <p:sp>
        <p:nvSpPr>
          <p:cNvPr id="5" name="Review changes in local conditions">
            <a:extLst xmlns:a="http://schemas.openxmlformats.org/drawingml/2006/main">
              <a:ext uri="{FF2B5EF4-FFF2-40B4-BE49-F238E27FC236}">
                <a16:creationId xmlns:a16="http://schemas.microsoft.com/office/drawing/2014/main" id="{86AB86E1-9B09-4287-BFAA-C1AC0449C33E}"/>
              </a:ext>
            </a:extLst>
          </p:cNvPr>
          <p:cNvSpPr>
            <a:spLocks xmlns:a="http://schemas.openxmlformats.org/drawingml/2006/main" noGrp="1"/>
          </p:cNvSpPr>
          <p:nvPr/>
        </p:nvSpPr>
        <p:spPr>
          <a:xfrm xmlns:a="http://schemas.openxmlformats.org/drawingml/2006/main">
            <a:off x="6724650" y="21717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02B2B"/>
                </a:solidFill>
                <a:latin typeface="SF Pro Display"/>
                <a:ea typeface="SF Pro Display"/>
                <a:cs typeface="SF Pro Display"/>
              </a:defRPr>
            </a:defPPr>
          </a:lstStyle>
          <a:p xmlns:a="http://schemas.openxmlformats.org/drawingml/2006/main">
            <a:pPr>
              <a:buNone/>
              <a:defRPr sz="2100" b="1">
                <a:solidFill>
                  <a:srgbClr val="202B2B"/>
                </a:solidFill>
                <a:latin typeface="SF Pro Display"/>
                <a:ea typeface="SF Pro Display"/>
                <a:cs typeface="SF Pro Display"/>
              </a:defRPr>
            </a:pPr>
            <a:r>
              <a:rPr sz="2100" b="1">
                <a:solidFill>
                  <a:srgbClr val="202B2B"/>
                </a:solidFill>
                <a:latin typeface="SF Pro Display"/>
                <a:ea typeface="SF Pro Display"/>
                <a:cs typeface="SF Pro Display"/>
              </a:rPr>
              <a:t>Review changes in local conditions</a:t>
            </a:r>
          </a:p>
        </p:txBody>
      </p:sp>
      <p:sp>
        <p:nvSpPr>
          <p:cNvPr id="6" name="See the reason for a suggested check">
            <a:extLst xmlns:a="http://schemas.openxmlformats.org/drawingml/2006/main">
              <a:ext uri="{FF2B5EF4-FFF2-40B4-BE49-F238E27FC236}">
                <a16:creationId xmlns:a16="http://schemas.microsoft.com/office/drawing/2014/main" id="{76D2D71C-A4C9-429F-BBA9-660802B0F7EA}"/>
              </a:ext>
            </a:extLst>
          </p:cNvPr>
          <p:cNvSpPr>
            <a:spLocks xmlns:a="http://schemas.openxmlformats.org/drawingml/2006/main" noGrp="1"/>
          </p:cNvSpPr>
          <p:nvPr/>
        </p:nvSpPr>
        <p:spPr>
          <a:xfrm xmlns:a="http://schemas.openxmlformats.org/drawingml/2006/main">
            <a:off x="6724650" y="3267075"/>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02B2B"/>
                </a:solidFill>
                <a:latin typeface="SF Pro Display"/>
                <a:ea typeface="SF Pro Display"/>
                <a:cs typeface="SF Pro Display"/>
              </a:defRPr>
            </a:defPPr>
          </a:lstStyle>
          <a:p xmlns:a="http://schemas.openxmlformats.org/drawingml/2006/main">
            <a:pPr>
              <a:buNone/>
              <a:defRPr sz="2100" b="1">
                <a:solidFill>
                  <a:srgbClr val="202B2B"/>
                </a:solidFill>
                <a:latin typeface="SF Pro Display"/>
                <a:ea typeface="SF Pro Display"/>
                <a:cs typeface="SF Pro Display"/>
              </a:defRPr>
            </a:pPr>
            <a:r>
              <a:rPr sz="2100" b="1">
                <a:solidFill>
                  <a:srgbClr val="202B2B"/>
                </a:solidFill>
                <a:latin typeface="SF Pro Display"/>
                <a:ea typeface="SF Pro Display"/>
                <a:cs typeface="SF Pro Display"/>
              </a:rPr>
              <a:t>See the reason for a suggested check</a:t>
            </a:r>
          </a:p>
        </p:txBody>
      </p:sp>
      <p:sp>
        <p:nvSpPr>
          <p:cNvPr id="7" name="Record crop observations and actions">
            <a:extLst xmlns:a="http://schemas.openxmlformats.org/drawingml/2006/main">
              <a:ext uri="{FF2B5EF4-FFF2-40B4-BE49-F238E27FC236}">
                <a16:creationId xmlns:a16="http://schemas.microsoft.com/office/drawing/2014/main" id="{F7511C43-4953-41A1-B5CE-CE2A2D79B8D4}"/>
              </a:ext>
            </a:extLst>
          </p:cNvPr>
          <p:cNvSpPr>
            <a:spLocks xmlns:a="http://schemas.openxmlformats.org/drawingml/2006/main" noGrp="1"/>
          </p:cNvSpPr>
          <p:nvPr/>
        </p:nvSpPr>
        <p:spPr>
          <a:xfrm xmlns:a="http://schemas.openxmlformats.org/drawingml/2006/main">
            <a:off x="6724650" y="43624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02B2B"/>
                </a:solidFill>
                <a:latin typeface="SF Pro Display"/>
                <a:ea typeface="SF Pro Display"/>
                <a:cs typeface="SF Pro Display"/>
              </a:defRPr>
            </a:defPPr>
          </a:lstStyle>
          <a:p xmlns:a="http://schemas.openxmlformats.org/drawingml/2006/main">
            <a:pPr>
              <a:buNone/>
              <a:defRPr sz="2100" b="1">
                <a:solidFill>
                  <a:srgbClr val="202B2B"/>
                </a:solidFill>
                <a:latin typeface="SF Pro Display"/>
                <a:ea typeface="SF Pro Display"/>
                <a:cs typeface="SF Pro Display"/>
              </a:defRPr>
            </a:pPr>
            <a:r>
              <a:rPr sz="2100" b="1">
                <a:solidFill>
                  <a:srgbClr val="202B2B"/>
                </a:solidFill>
                <a:latin typeface="SF Pro Display"/>
                <a:ea typeface="SF Pro Display"/>
                <a:cs typeface="SF Pro Display"/>
              </a:rPr>
              <a:t>Record crop observations and actions</a:t>
            </a:r>
          </a:p>
        </p:txBody>
      </p:sp>
      <p:sp>
        <p:nvSpPr>
          <p:cNvPr id="8" name="Longer-term goal: support planting decisions through an">
            <a:extLst xmlns:a="http://schemas.openxmlformats.org/drawingml/2006/main">
              <a:ext uri="{FF2B5EF4-FFF2-40B4-BE49-F238E27FC236}">
                <a16:creationId xmlns:a16="http://schemas.microsoft.com/office/drawing/2014/main" id="{3544A735-7776-4F30-ACEE-E8D59CDBE878}"/>
              </a:ext>
            </a:extLst>
          </p:cNvPr>
          <p:cNvSpPr>
            <a:spLocks xmlns:a="http://schemas.openxmlformats.org/drawingml/2006/main" noGrp="1"/>
          </p:cNvSpPr>
          <p:nvPr/>
        </p:nvSpPr>
        <p:spPr>
          <a:xfrm xmlns:a="http://schemas.openxmlformats.org/drawingml/2006/main">
            <a:off x="762000" y="5657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F6C69"/>
                </a:solidFill>
                <a:latin typeface="SF Pro Display"/>
                <a:ea typeface="SF Pro Display"/>
                <a:cs typeface="SF Pro Display"/>
              </a:defRPr>
            </a:defPPr>
          </a:lstStyle>
          <a:p xmlns:a="http://schemas.openxmlformats.org/drawingml/2006/main">
            <a:pPr>
              <a:buNone/>
              <a:defRPr sz="1650" b="0">
                <a:solidFill>
                  <a:srgbClr val="5F6C69"/>
                </a:solidFill>
                <a:latin typeface="SF Pro Display"/>
                <a:ea typeface="SF Pro Display"/>
                <a:cs typeface="SF Pro Display"/>
              </a:defRPr>
            </a:pPr>
            <a:r>
              <a:rPr sz="1650" b="0">
                <a:solidFill>
                  <a:srgbClr val="5F6C69"/>
                </a:solidFill>
                <a:latin typeface="SF Pro Display"/>
                <a:ea typeface="SF Pro Display"/>
                <a:cs typeface="SF Pro Display"/>
              </a:rPr>
              <a:t>Longer-term goal: support planting decisions through an iOS app with mapped plots.</a:t>
            </a:r>
          </a:p>
        </p:txBody>
      </p:sp>
    </p:spTree>
    <p:extLst>
      <p:ext uri="{BB962C8B-B14F-4D97-AF65-F5344CB8AC3E}">
        <p14:creationId xmlns:p14="http://schemas.microsoft.com/office/powerpoint/2010/main" val="283883235"/>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Data we plan to combine">
            <a:extLst xmlns:a="http://schemas.openxmlformats.org/drawingml/2006/main">
              <a:ext uri="{FF2B5EF4-FFF2-40B4-BE49-F238E27FC236}">
                <a16:creationId xmlns:a16="http://schemas.microsoft.com/office/drawing/2014/main" id="{744998BE-FFD9-4F80-B909-D7557A972C23}"/>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Data we plan to combine</a:t>
            </a:r>
          </a:p>
        </p:txBody>
      </p:sp>
      <p:sp>
        <p:nvSpPr>
          <p:cNvPr id="2" name="05">
            <a:extLst xmlns:a="http://schemas.openxmlformats.org/drawingml/2006/main">
              <a:ext uri="{FF2B5EF4-FFF2-40B4-BE49-F238E27FC236}">
                <a16:creationId xmlns:a16="http://schemas.microsoft.com/office/drawing/2014/main" id="{43AF3FB7-DFCD-4B66-9CF3-2431EB1EEBC0}"/>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06</a:t>
            </a:r>
          </a:p>
        </p:txBody>
      </p:sp>
      <p:sp>
        <p:nvSpPr>
          <p:cNvPr id="3" name="At the farm">
            <a:extLst xmlns:a="http://schemas.openxmlformats.org/drawingml/2006/main">
              <a:ext uri="{FF2B5EF4-FFF2-40B4-BE49-F238E27FC236}">
                <a16:creationId xmlns:a16="http://schemas.microsoft.com/office/drawing/2014/main" id="{C27F6C3D-6D60-4AA3-BE1D-CE65500E5371}"/>
              </a:ext>
            </a:extLst>
          </p:cNvPr>
          <p:cNvSpPr>
            <a:spLocks xmlns:a="http://schemas.openxmlformats.org/drawingml/2006/main" noGrp="1"/>
          </p:cNvSpPr>
          <p:nvPr/>
        </p:nvSpPr>
        <p:spPr>
          <a:xfrm xmlns:a="http://schemas.openxmlformats.org/drawingml/2006/main">
            <a:off x="742950" y="2076450"/>
            <a:ext cx="4810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D6B62"/>
                </a:solidFill>
                <a:latin typeface="SF Pro Display"/>
                <a:ea typeface="SF Pro Display"/>
                <a:cs typeface="SF Pro Display"/>
              </a:defRPr>
            </a:defPPr>
          </a:lstStyle>
          <a:p xmlns:a="http://schemas.openxmlformats.org/drawingml/2006/main">
            <a:pPr>
              <a:buNone/>
              <a:defRPr sz="2400" b="1">
                <a:solidFill>
                  <a:srgbClr val="3D6B62"/>
                </a:solidFill>
                <a:latin typeface="SF Pro Display"/>
                <a:ea typeface="SF Pro Display"/>
                <a:cs typeface="SF Pro Display"/>
              </a:defRPr>
            </a:pPr>
            <a:r>
              <a:rPr sz="2400" b="1">
                <a:solidFill>
                  <a:srgbClr val="3D6B62"/>
                </a:solidFill>
                <a:latin typeface="SF Pro Display"/>
                <a:ea typeface="SF Pro Display"/>
                <a:cs typeface="SF Pro Display"/>
              </a:rPr>
              <a:t>At the farm</a:t>
            </a:r>
          </a:p>
        </p:txBody>
      </p:sp>
      <p:sp>
        <p:nvSpPr>
          <p:cNvPr id="4" name="Water measurements&#10;at crop depth">
            <a:extLst xmlns:a="http://schemas.openxmlformats.org/drawingml/2006/main">
              <a:ext uri="{FF2B5EF4-FFF2-40B4-BE49-F238E27FC236}">
                <a16:creationId xmlns:a16="http://schemas.microsoft.com/office/drawing/2014/main" id="{4C7E16E1-AC3D-4E49-8B2C-65E7F8C2BB47}"/>
              </a:ext>
            </a:extLst>
          </p:cNvPr>
          <p:cNvSpPr>
            <a:spLocks xmlns:a="http://schemas.openxmlformats.org/drawingml/2006/main" noGrp="1"/>
          </p:cNvSpPr>
          <p:nvPr/>
        </p:nvSpPr>
        <p:spPr>
          <a:xfrm xmlns:a="http://schemas.openxmlformats.org/drawingml/2006/main">
            <a:off x="742950" y="273367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02B2B"/>
                </a:solidFill>
                <a:latin typeface="SF Pro Display"/>
                <a:ea typeface="SF Pro Display"/>
                <a:cs typeface="SF Pro Display"/>
              </a:defRPr>
            </a:defPPr>
          </a:lstStyle>
          <a:p xmlns:a="http://schemas.openxmlformats.org/drawingml/2006/main">
            <a:pPr>
              <a:buNone/>
              <a:defRPr sz="2325" b="1">
                <a:solidFill>
                  <a:srgbClr val="202B2B"/>
                </a:solidFill>
                <a:latin typeface="SF Pro Display"/>
                <a:ea typeface="SF Pro Display"/>
                <a:cs typeface="SF Pro Display"/>
              </a:defRPr>
            </a:pPr>
            <a:r>
              <a:rPr sz="2325" b="1">
                <a:solidFill>
                  <a:srgbClr val="202B2B"/>
                </a:solidFill>
                <a:latin typeface="SF Pro Display"/>
                <a:ea typeface="SF Pro Display"/>
                <a:cs typeface="SF Pro Display"/>
              </a:rPr>
              <a:t>Water measurements</a:t>
            </a:r>
          </a:p>
          <a:p xmlns:a="http://schemas.openxmlformats.org/drawingml/2006/main">
            <a:pPr>
              <a:buNone/>
              <a:defRPr sz="2325" b="1">
                <a:solidFill>
                  <a:srgbClr val="202B2B"/>
                </a:solidFill>
                <a:latin typeface="SF Pro Display"/>
                <a:ea typeface="SF Pro Display"/>
                <a:cs typeface="SF Pro Display"/>
              </a:defRPr>
            </a:pPr>
            <a:r>
              <a:rPr sz="2325" b="1">
                <a:solidFill>
                  <a:srgbClr val="202B2B"/>
                </a:solidFill>
                <a:latin typeface="SF Pro Display"/>
                <a:ea typeface="SF Pro Display"/>
                <a:cs typeface="SF Pro Display"/>
              </a:rPr>
              <a:t>at crop depth</a:t>
            </a:r>
          </a:p>
        </p:txBody>
      </p:sp>
      <p:sp>
        <p:nvSpPr>
          <p:cNvPr id="5" name="Temperature and salinity first.&#10;Crop checks, seedstock ">
            <a:extLst xmlns:a="http://schemas.openxmlformats.org/drawingml/2006/main">
              <a:ext uri="{FF2B5EF4-FFF2-40B4-BE49-F238E27FC236}">
                <a16:creationId xmlns:a16="http://schemas.microsoft.com/office/drawing/2014/main" id="{BD6A131C-6DC9-44A0-845C-5E4DF13ED078}"/>
              </a:ext>
            </a:extLst>
          </p:cNvPr>
          <p:cNvSpPr>
            <a:spLocks xmlns:a="http://schemas.openxmlformats.org/drawingml/2006/main" noGrp="1"/>
          </p:cNvSpPr>
          <p:nvPr/>
        </p:nvSpPr>
        <p:spPr>
          <a:xfrm xmlns:a="http://schemas.openxmlformats.org/drawingml/2006/main">
            <a:off x="742950" y="3829050"/>
            <a:ext cx="4762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F6C69"/>
                </a:solidFill>
                <a:latin typeface="SF Pro Display"/>
                <a:ea typeface="SF Pro Display"/>
                <a:cs typeface="SF Pro Display"/>
              </a:defRPr>
            </a:defPPr>
          </a:lstStyle>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Temperature and salinity first.</a:t>
            </a:r>
          </a:p>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Crop checks, seedstock context</a:t>
            </a:r>
          </a:p>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and photos alongside measurements.</a:t>
            </a:r>
          </a:p>
        </p:txBody>
      </p:sp>
      <p:sp>
        <p:nvSpPr>
          <p:cNvPr id="6" name="Beyond the farm">
            <a:extLst xmlns:a="http://schemas.openxmlformats.org/drawingml/2006/main">
              <a:ext uri="{FF2B5EF4-FFF2-40B4-BE49-F238E27FC236}">
                <a16:creationId xmlns:a16="http://schemas.microsoft.com/office/drawing/2014/main" id="{BBD9C151-2A43-415D-A99B-D5B95E618FA2}"/>
              </a:ext>
            </a:extLst>
          </p:cNvPr>
          <p:cNvSpPr>
            <a:spLocks xmlns:a="http://schemas.openxmlformats.org/drawingml/2006/main" noGrp="1"/>
          </p:cNvSpPr>
          <p:nvPr/>
        </p:nvSpPr>
        <p:spPr>
          <a:xfrm xmlns:a="http://schemas.openxmlformats.org/drawingml/2006/main">
            <a:off x="6477000" y="2076450"/>
            <a:ext cx="4810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D6B62"/>
                </a:solidFill>
                <a:latin typeface="SF Pro Display"/>
                <a:ea typeface="SF Pro Display"/>
                <a:cs typeface="SF Pro Display"/>
              </a:defRPr>
            </a:defPPr>
          </a:lstStyle>
          <a:p xmlns:a="http://schemas.openxmlformats.org/drawingml/2006/main">
            <a:pPr>
              <a:buNone/>
              <a:defRPr sz="2400" b="1">
                <a:solidFill>
                  <a:srgbClr val="3D6B62"/>
                </a:solidFill>
                <a:latin typeface="SF Pro Display"/>
                <a:ea typeface="SF Pro Display"/>
                <a:cs typeface="SF Pro Display"/>
              </a:defRPr>
            </a:pPr>
            <a:r>
              <a:rPr sz="2400" b="1">
                <a:solidFill>
                  <a:srgbClr val="3D6B62"/>
                </a:solidFill>
                <a:latin typeface="SF Pro Display"/>
                <a:ea typeface="SF Pro Display"/>
                <a:cs typeface="SF Pro Display"/>
              </a:rPr>
              <a:t>Beyond the farm</a:t>
            </a:r>
          </a:p>
        </p:txBody>
      </p:sp>
      <p:sp>
        <p:nvSpPr>
          <p:cNvPr id="7" name="Regional ocean data&#10;and weather">
            <a:extLst xmlns:a="http://schemas.openxmlformats.org/drawingml/2006/main">
              <a:ext uri="{FF2B5EF4-FFF2-40B4-BE49-F238E27FC236}">
                <a16:creationId xmlns:a16="http://schemas.microsoft.com/office/drawing/2014/main" id="{6935DE0F-C345-4038-9853-FD33384D9208}"/>
              </a:ext>
            </a:extLst>
          </p:cNvPr>
          <p:cNvSpPr>
            <a:spLocks xmlns:a="http://schemas.openxmlformats.org/drawingml/2006/main" noGrp="1"/>
          </p:cNvSpPr>
          <p:nvPr/>
        </p:nvSpPr>
        <p:spPr>
          <a:xfrm xmlns:a="http://schemas.openxmlformats.org/drawingml/2006/main">
            <a:off x="6477000" y="273367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02B2B"/>
                </a:solidFill>
                <a:latin typeface="SF Pro Display"/>
                <a:ea typeface="SF Pro Display"/>
                <a:cs typeface="SF Pro Display"/>
              </a:defRPr>
            </a:defPPr>
          </a:lstStyle>
          <a:p xmlns:a="http://schemas.openxmlformats.org/drawingml/2006/main">
            <a:pPr>
              <a:buNone/>
              <a:defRPr sz="2325" b="1">
                <a:solidFill>
                  <a:srgbClr val="202B2B"/>
                </a:solidFill>
                <a:latin typeface="SF Pro Display"/>
                <a:ea typeface="SF Pro Display"/>
                <a:cs typeface="SF Pro Display"/>
              </a:defRPr>
            </a:pPr>
            <a:r>
              <a:rPr sz="2325" b="1">
                <a:solidFill>
                  <a:srgbClr val="202B2B"/>
                </a:solidFill>
                <a:latin typeface="SF Pro Display"/>
                <a:ea typeface="SF Pro Display"/>
                <a:cs typeface="SF Pro Display"/>
              </a:rPr>
              <a:t>Regional ocean data</a:t>
            </a:r>
          </a:p>
          <a:p xmlns:a="http://schemas.openxmlformats.org/drawingml/2006/main">
            <a:pPr>
              <a:buNone/>
              <a:defRPr sz="2325" b="1">
                <a:solidFill>
                  <a:srgbClr val="202B2B"/>
                </a:solidFill>
                <a:latin typeface="SF Pro Display"/>
                <a:ea typeface="SF Pro Display"/>
                <a:cs typeface="SF Pro Display"/>
              </a:defRPr>
            </a:pPr>
            <a:r>
              <a:rPr sz="2325" b="1">
                <a:solidFill>
                  <a:srgbClr val="202B2B"/>
                </a:solidFill>
                <a:latin typeface="SF Pro Display"/>
                <a:ea typeface="SF Pro Display"/>
                <a:cs typeface="SF Pro Display"/>
              </a:rPr>
              <a:t>and weather</a:t>
            </a:r>
          </a:p>
        </p:txBody>
      </p:sp>
      <p:sp>
        <p:nvSpPr>
          <p:cNvPr id="8" name="Candidate sources include NASA MUR,&#10;Copernicus and BMKG">
            <a:extLst xmlns:a="http://schemas.openxmlformats.org/drawingml/2006/main">
              <a:ext uri="{FF2B5EF4-FFF2-40B4-BE49-F238E27FC236}">
                <a16:creationId xmlns:a16="http://schemas.microsoft.com/office/drawing/2014/main" id="{646D7668-579E-4FDC-A7ED-03FC6BAC12DD}"/>
              </a:ext>
            </a:extLst>
          </p:cNvPr>
          <p:cNvSpPr>
            <a:spLocks xmlns:a="http://schemas.openxmlformats.org/drawingml/2006/main" noGrp="1"/>
          </p:cNvSpPr>
          <p:nvPr/>
        </p:nvSpPr>
        <p:spPr>
          <a:xfrm xmlns:a="http://schemas.openxmlformats.org/drawingml/2006/main">
            <a:off x="6477000" y="3829050"/>
            <a:ext cx="4857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F6C69"/>
                </a:solidFill>
                <a:latin typeface="SF Pro Display"/>
                <a:ea typeface="SF Pro Display"/>
                <a:cs typeface="SF Pro Display"/>
              </a:defRPr>
            </a:defPPr>
          </a:lstStyle>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Candidate sources include NASA MUR,</a:t>
            </a:r>
          </a:p>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Copernicus and BMKG.</a:t>
            </a:r>
          </a:p>
          <a:p xmlns:a="http://schemas.openxmlformats.org/drawingml/2006/main">
            <a:pPr>
              <a:buNone/>
              <a:defRPr sz="2025" b="0">
                <a:solidFill>
                  <a:srgbClr val="5F6C69"/>
                </a:solidFill>
                <a:latin typeface="SF Pro Display"/>
                <a:ea typeface="SF Pro Display"/>
                <a:cs typeface="SF Pro Display"/>
              </a:defRPr>
            </a:pPr>
            <a:r>
              <a:rPr sz="2025" b="0">
                <a:solidFill>
                  <a:srgbClr val="5F6C69"/>
                </a:solidFill>
                <a:latin typeface="SF Pro Display"/>
                <a:ea typeface="SF Pro Display"/>
                <a:cs typeface="SF Pro Display"/>
              </a:rPr>
              <a:t>We still need to test local suitability.</a:t>
            </a:r>
          </a:p>
        </p:txBody>
      </p:sp>
      <p:sp>
        <p:nvSpPr>
          <p:cNvPr id="9" name="We need local measurements to check how well regional d">
            <a:extLst xmlns:a="http://schemas.openxmlformats.org/drawingml/2006/main">
              <a:ext uri="{FF2B5EF4-FFF2-40B4-BE49-F238E27FC236}">
                <a16:creationId xmlns:a16="http://schemas.microsoft.com/office/drawing/2014/main" id="{3A2566E9-4EEB-4CA2-826F-16AF0645F6F0}"/>
              </a:ext>
            </a:extLst>
          </p:cNvPr>
          <p:cNvSpPr>
            <a:spLocks xmlns:a="http://schemas.openxmlformats.org/drawingml/2006/main" noGrp="1"/>
          </p:cNvSpPr>
          <p:nvPr/>
        </p:nvSpPr>
        <p:spPr>
          <a:xfrm xmlns:a="http://schemas.openxmlformats.org/drawingml/2006/main">
            <a:off x="762000" y="5695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F6C69"/>
                </a:solidFill>
                <a:latin typeface="SF Pro Display"/>
                <a:ea typeface="SF Pro Display"/>
                <a:cs typeface="SF Pro Display"/>
              </a:defRPr>
            </a:defPPr>
          </a:lstStyle>
          <a:p xmlns:a="http://schemas.openxmlformats.org/drawingml/2006/main">
            <a:pPr>
              <a:buNone/>
              <a:defRPr sz="1650" b="0">
                <a:solidFill>
                  <a:srgbClr val="5F6C69"/>
                </a:solidFill>
                <a:latin typeface="SF Pro Display"/>
                <a:ea typeface="SF Pro Display"/>
                <a:cs typeface="SF Pro Display"/>
              </a:defRPr>
            </a:pPr>
            <a:r>
              <a:rPr sz="1650" b="0">
                <a:solidFill>
                  <a:srgbClr val="5F6C69"/>
                </a:solidFill>
                <a:latin typeface="SF Pro Display"/>
                <a:ea typeface="SF Pro Display"/>
                <a:cs typeface="SF Pro Display"/>
              </a:rPr>
              <a:t>We need local measurements to check how well regional data represents each farm.</a:t>
            </a:r>
          </a:p>
        </p:txBody>
      </p:sp>
    </p:spTree>
    <p:extLst>
      <p:ext uri="{BB962C8B-B14F-4D97-AF65-F5344CB8AC3E}">
        <p14:creationId xmlns:p14="http://schemas.microsoft.com/office/powerpoint/2010/main" val="90020046"/>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Where we are now">
            <a:extLst xmlns:a="http://schemas.openxmlformats.org/drawingml/2006/main">
              <a:ext uri="{FF2B5EF4-FFF2-40B4-BE49-F238E27FC236}">
                <a16:creationId xmlns:a16="http://schemas.microsoft.com/office/drawing/2014/main" id="{4B1356A7-3CDC-4B37-919E-52B55F4C8562}"/>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Where we are now</a:t>
            </a:r>
          </a:p>
        </p:txBody>
      </p:sp>
      <p:sp>
        <p:nvSpPr>
          <p:cNvPr id="2" name="06">
            <a:extLst xmlns:a="http://schemas.openxmlformats.org/drawingml/2006/main">
              <a:ext uri="{FF2B5EF4-FFF2-40B4-BE49-F238E27FC236}">
                <a16:creationId xmlns:a16="http://schemas.microsoft.com/office/drawing/2014/main" id="{77FC5DC0-00BB-4DA0-9D0E-2C50A0223BD0}"/>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07</a:t>
            </a:r>
          </a:p>
        </p:txBody>
      </p:sp>
      <p:sp>
        <p:nvSpPr>
          <p:cNvPr id="3" name="Research groundwork">
            <a:extLst xmlns:a="http://schemas.openxmlformats.org/drawingml/2006/main">
              <a:ext uri="{FF2B5EF4-FFF2-40B4-BE49-F238E27FC236}">
                <a16:creationId xmlns:a16="http://schemas.microsoft.com/office/drawing/2014/main" id="{2D6E7220-34E0-4FC8-8F92-C558B96CA3C3}"/>
              </a:ext>
            </a:extLst>
          </p:cNvPr>
          <p:cNvSpPr>
            <a:spLocks xmlns:a="http://schemas.openxmlformats.org/drawingml/2006/main" noGrp="1"/>
          </p:cNvSpPr>
          <p:nvPr/>
        </p:nvSpPr>
        <p:spPr>
          <a:xfrm xmlns:a="http://schemas.openxmlformats.org/drawingml/2006/main">
            <a:off x="742950" y="214312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D6B62"/>
                </a:solidFill>
                <a:latin typeface="SF Pro Display"/>
                <a:ea typeface="SF Pro Display"/>
                <a:cs typeface="SF Pro Display"/>
              </a:defRPr>
            </a:defPPr>
          </a:lstStyle>
          <a:p xmlns:a="http://schemas.openxmlformats.org/drawingml/2006/main">
            <a:pPr>
              <a:buNone/>
              <a:defRPr sz="2175" b="1">
                <a:solidFill>
                  <a:srgbClr val="3D6B62"/>
                </a:solidFill>
                <a:latin typeface="SF Pro Display"/>
                <a:ea typeface="SF Pro Display"/>
                <a:cs typeface="SF Pro Display"/>
              </a:defRPr>
            </a:pPr>
            <a:r>
              <a:rPr sz="2175" b="1">
                <a:solidFill>
                  <a:srgbClr val="3D6B62"/>
                </a:solidFill>
                <a:latin typeface="SF Pro Display"/>
                <a:ea typeface="SF Pro Display"/>
                <a:cs typeface="SF Pro Display"/>
              </a:rPr>
              <a:t>Research groundwork</a:t>
            </a:r>
          </a:p>
        </p:txBody>
      </p:sp>
      <p:sp>
        <p:nvSpPr>
          <p:cNvPr id="4" name="Literature synthesis&#10;and local interviews&#10;&#10;A proposed w">
            <a:extLst xmlns:a="http://schemas.openxmlformats.org/drawingml/2006/main">
              <a:ext uri="{FF2B5EF4-FFF2-40B4-BE49-F238E27FC236}">
                <a16:creationId xmlns:a16="http://schemas.microsoft.com/office/drawing/2014/main" id="{51F75659-709F-478A-89F0-B6D6617316E9}"/>
              </a:ext>
            </a:extLst>
          </p:cNvPr>
          <p:cNvSpPr>
            <a:spLocks xmlns:a="http://schemas.openxmlformats.org/drawingml/2006/main" noGrp="1"/>
          </p:cNvSpPr>
          <p:nvPr/>
        </p:nvSpPr>
        <p:spPr>
          <a:xfrm xmlns:a="http://schemas.openxmlformats.org/drawingml/2006/main">
            <a:off x="742950" y="3143250"/>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2B2B"/>
                </a:solidFill>
                <a:latin typeface="SF Pro Display"/>
                <a:ea typeface="SF Pro Display"/>
                <a:cs typeface="SF Pro Display"/>
              </a:defRPr>
            </a:defPPr>
          </a:lstStyle>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Literature synthesis</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and local interviews</a:t>
            </a:r>
          </a:p>
          <a:p xmlns:a="http://schemas.openxmlformats.org/drawingml/2006/main">
            <a:r>
              <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A proposed workflow</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for advocates</a:t>
            </a:r>
          </a:p>
        </p:txBody>
      </p:sp>
      <p:sp>
        <p:nvSpPr>
          <p:cNvPr id="5" name="Current demo">
            <a:extLst xmlns:a="http://schemas.openxmlformats.org/drawingml/2006/main">
              <a:ext uri="{FF2B5EF4-FFF2-40B4-BE49-F238E27FC236}">
                <a16:creationId xmlns:a16="http://schemas.microsoft.com/office/drawing/2014/main" id="{A89F68C0-27A7-4420-8466-51ED24E8B300}"/>
              </a:ext>
            </a:extLst>
          </p:cNvPr>
          <p:cNvSpPr>
            <a:spLocks xmlns:a="http://schemas.openxmlformats.org/drawingml/2006/main" noGrp="1"/>
          </p:cNvSpPr>
          <p:nvPr/>
        </p:nvSpPr>
        <p:spPr>
          <a:xfrm xmlns:a="http://schemas.openxmlformats.org/drawingml/2006/main">
            <a:off x="4610100" y="2143125"/>
            <a:ext cx="3162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D6B62"/>
                </a:solidFill>
                <a:latin typeface="SF Pro Display"/>
                <a:ea typeface="SF Pro Display"/>
                <a:cs typeface="SF Pro Display"/>
              </a:defRPr>
            </a:defPPr>
          </a:lstStyle>
          <a:p xmlns:a="http://schemas.openxmlformats.org/drawingml/2006/main">
            <a:pPr>
              <a:buNone/>
              <a:defRPr sz="2175" b="1">
                <a:solidFill>
                  <a:srgbClr val="3D6B62"/>
                </a:solidFill>
                <a:latin typeface="SF Pro Display"/>
                <a:ea typeface="SF Pro Display"/>
                <a:cs typeface="SF Pro Display"/>
              </a:defRPr>
            </a:pPr>
            <a:r>
              <a:rPr sz="2175" b="1">
                <a:solidFill>
                  <a:srgbClr val="3D6B62"/>
                </a:solidFill>
                <a:latin typeface="SF Pro Display"/>
                <a:ea typeface="SF Pro Display"/>
                <a:cs typeface="SF Pro Display"/>
              </a:rPr>
              <a:t>Current demo</a:t>
            </a:r>
          </a:p>
        </p:txBody>
      </p:sp>
      <p:sp>
        <p:nvSpPr>
          <p:cNvPr id="6" name="A simple input form&#10;with a multivariate model&#10;&#10;Syntheti">
            <a:extLst xmlns:a="http://schemas.openxmlformats.org/drawingml/2006/main">
              <a:ext uri="{FF2B5EF4-FFF2-40B4-BE49-F238E27FC236}">
                <a16:creationId xmlns:a16="http://schemas.microsoft.com/office/drawing/2014/main" id="{55500805-BD25-433C-B111-C40C1214AB35}"/>
              </a:ext>
            </a:extLst>
          </p:cNvPr>
          <p:cNvSpPr>
            <a:spLocks xmlns:a="http://schemas.openxmlformats.org/drawingml/2006/main" noGrp="1"/>
          </p:cNvSpPr>
          <p:nvPr/>
        </p:nvSpPr>
        <p:spPr>
          <a:xfrm xmlns:a="http://schemas.openxmlformats.org/drawingml/2006/main">
            <a:off x="4610100" y="3143250"/>
            <a:ext cx="3162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2B2B"/>
                </a:solidFill>
                <a:latin typeface="SF Pro Display"/>
                <a:ea typeface="SF Pro Display"/>
                <a:cs typeface="SF Pro Display"/>
              </a:defRPr>
            </a:defPPr>
          </a:lstStyle>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A simple input form</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with a multivariate model</a:t>
            </a:r>
          </a:p>
          <a:p xmlns:a="http://schemas.openxmlformats.org/drawingml/2006/main">
            <a:r>
              <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Synthetic data only</a:t>
            </a:r>
          </a:p>
        </p:txBody>
      </p:sp>
      <p:sp>
        <p:nvSpPr>
          <p:cNvPr id="7" name="Next to validate">
            <a:extLst xmlns:a="http://schemas.openxmlformats.org/drawingml/2006/main">
              <a:ext uri="{FF2B5EF4-FFF2-40B4-BE49-F238E27FC236}">
                <a16:creationId xmlns:a16="http://schemas.microsoft.com/office/drawing/2014/main" id="{7A00577C-0BF5-4572-82E0-CE0A34AADB98}"/>
              </a:ext>
            </a:extLst>
          </p:cNvPr>
          <p:cNvSpPr>
            <a:spLocks xmlns:a="http://schemas.openxmlformats.org/drawingml/2006/main" noGrp="1"/>
          </p:cNvSpPr>
          <p:nvPr/>
        </p:nvSpPr>
        <p:spPr>
          <a:xfrm xmlns:a="http://schemas.openxmlformats.org/drawingml/2006/main">
            <a:off x="8477250" y="2143125"/>
            <a:ext cx="2971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D6B62"/>
                </a:solidFill>
                <a:latin typeface="SF Pro Display"/>
                <a:ea typeface="SF Pro Display"/>
                <a:cs typeface="SF Pro Display"/>
              </a:defRPr>
            </a:defPPr>
          </a:lstStyle>
          <a:p xmlns:a="http://schemas.openxmlformats.org/drawingml/2006/main">
            <a:pPr>
              <a:buNone/>
              <a:defRPr sz="2175" b="1">
                <a:solidFill>
                  <a:srgbClr val="3D6B62"/>
                </a:solidFill>
                <a:latin typeface="SF Pro Display"/>
                <a:ea typeface="SF Pro Display"/>
                <a:cs typeface="SF Pro Display"/>
              </a:defRPr>
            </a:pPr>
            <a:r>
              <a:rPr sz="2175" b="1">
                <a:solidFill>
                  <a:srgbClr val="3D6B62"/>
                </a:solidFill>
                <a:latin typeface="SF Pro Display"/>
                <a:ea typeface="SF Pro Display"/>
                <a:cs typeface="SF Pro Display"/>
              </a:rPr>
              <a:t>Next to validate</a:t>
            </a:r>
          </a:p>
        </p:txBody>
      </p:sp>
      <p:sp>
        <p:nvSpPr>
          <p:cNvPr id="8" name="Real measurements&#10;and crop observations&#10;&#10;Data integrati">
            <a:extLst xmlns:a="http://schemas.openxmlformats.org/drawingml/2006/main">
              <a:ext uri="{FF2B5EF4-FFF2-40B4-BE49-F238E27FC236}">
                <a16:creationId xmlns:a16="http://schemas.microsoft.com/office/drawing/2014/main" id="{F2D3D62C-7B68-435E-BFD5-13CDE94E87A3}"/>
              </a:ext>
            </a:extLst>
          </p:cNvPr>
          <p:cNvSpPr>
            <a:spLocks xmlns:a="http://schemas.openxmlformats.org/drawingml/2006/main" noGrp="1"/>
          </p:cNvSpPr>
          <p:nvPr/>
        </p:nvSpPr>
        <p:spPr>
          <a:xfrm xmlns:a="http://schemas.openxmlformats.org/drawingml/2006/main">
            <a:off x="8477250" y="3143250"/>
            <a:ext cx="29718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2B2B"/>
                </a:solidFill>
                <a:latin typeface="SF Pro Display"/>
                <a:ea typeface="SF Pro Display"/>
                <a:cs typeface="SF Pro Display"/>
              </a:defRPr>
            </a:defPPr>
          </a:lstStyle>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Real measurements</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and crop observations</a:t>
            </a:r>
          </a:p>
          <a:p xmlns:a="http://schemas.openxmlformats.org/drawingml/2006/main">
            <a:r>
              <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Data integration</a:t>
            </a:r>
          </a:p>
          <a:p xmlns:a="http://schemas.openxmlformats.org/drawingml/2006/main">
            <a:pPr>
              <a:buNone/>
              <a:defRPr sz="2100" b="0">
                <a:solidFill>
                  <a:srgbClr val="202B2B"/>
                </a:solidFill>
                <a:latin typeface="SF Pro Display"/>
                <a:ea typeface="SF Pro Display"/>
                <a:cs typeface="SF Pro Display"/>
              </a:defRPr>
            </a:pPr>
            <a:r>
              <a:rPr sz="2100" b="0">
                <a:solidFill>
                  <a:srgbClr val="202B2B"/>
                </a:solidFill>
                <a:latin typeface="SF Pro Display"/>
                <a:ea typeface="SF Pro Display"/>
                <a:cs typeface="SF Pro Display"/>
              </a:rPr>
              <a:t>and usefulness in practice</a:t>
            </a:r>
          </a:p>
        </p:txBody>
      </p:sp>
      <p:sp>
        <p:nvSpPr>
          <p:cNvPr id="9" name="The demo measures difference from a simulated reference">
            <a:extLst xmlns:a="http://schemas.openxmlformats.org/drawingml/2006/main">
              <a:ext uri="{FF2B5EF4-FFF2-40B4-BE49-F238E27FC236}">
                <a16:creationId xmlns:a16="http://schemas.microsoft.com/office/drawing/2014/main" id="{33178CE7-3BE1-41DB-ADFF-0EDE326F0116}"/>
              </a:ext>
            </a:extLst>
          </p:cNvPr>
          <p:cNvSpPr>
            <a:spLocks xmlns:a="http://schemas.openxmlformats.org/drawingml/2006/main" noGrp="1"/>
          </p:cNvSpPr>
          <p:nvPr/>
        </p:nvSpPr>
        <p:spPr>
          <a:xfrm xmlns:a="http://schemas.openxmlformats.org/drawingml/2006/main">
            <a:off x="762000" y="56769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F6C69"/>
                </a:solidFill>
                <a:latin typeface="SF Pro Display"/>
                <a:ea typeface="SF Pro Display"/>
                <a:cs typeface="SF Pro Display"/>
              </a:defRPr>
            </a:defPPr>
          </a:lstStyle>
          <a:p xmlns:a="http://schemas.openxmlformats.org/drawingml/2006/main">
            <a:pPr>
              <a:buNone/>
              <a:defRPr sz="1650" b="0">
                <a:solidFill>
                  <a:srgbClr val="5F6C69"/>
                </a:solidFill>
                <a:latin typeface="SF Pro Display"/>
                <a:ea typeface="SF Pro Display"/>
                <a:cs typeface="SF Pro Display"/>
              </a:defRPr>
            </a:pPr>
            <a:r>
              <a:rPr sz="1650" b="0">
                <a:solidFill>
                  <a:srgbClr val="5F6C69"/>
                </a:solidFill>
                <a:latin typeface="SF Pro Display"/>
                <a:ea typeface="SF Pro Display"/>
                <a:cs typeface="SF Pro Display"/>
              </a:rPr>
              <a:t>The demo measures difference from a simulated reference. Disease prediction remains unvalidated.</a:t>
            </a:r>
          </a:p>
        </p:txBody>
      </p:sp>
    </p:spTree>
    <p:extLst>
      <p:ext uri="{BB962C8B-B14F-4D97-AF65-F5344CB8AC3E}">
        <p14:creationId xmlns:p14="http://schemas.microsoft.com/office/powerpoint/2010/main" val="1682652131"/>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A first validation study">
            <a:extLst xmlns:a="http://schemas.openxmlformats.org/drawingml/2006/main">
              <a:ext uri="{FF2B5EF4-FFF2-40B4-BE49-F238E27FC236}">
                <a16:creationId xmlns:a16="http://schemas.microsoft.com/office/drawing/2014/main" id="{303A2B3F-889D-4E4E-A9DE-3C98612231C6}"/>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A first validation study</a:t>
            </a:r>
          </a:p>
        </p:txBody>
      </p:sp>
      <p:sp>
        <p:nvSpPr>
          <p:cNvPr id="2" name="07">
            <a:extLst xmlns:a="http://schemas.openxmlformats.org/drawingml/2006/main">
              <a:ext uri="{FF2B5EF4-FFF2-40B4-BE49-F238E27FC236}">
                <a16:creationId xmlns:a16="http://schemas.microsoft.com/office/drawing/2014/main" id="{DF14E31E-6D50-4AF2-BF91-4C4EE7024BAD}"/>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08</a:t>
            </a:r>
          </a:p>
        </p:txBody>
      </p:sp>
      <p:sp>
        <p:nvSpPr>
          <p:cNvPr id="3" name="01">
            <a:extLst xmlns:a="http://schemas.openxmlformats.org/drawingml/2006/main">
              <a:ext uri="{FF2B5EF4-FFF2-40B4-BE49-F238E27FC236}">
                <a16:creationId xmlns:a16="http://schemas.microsoft.com/office/drawing/2014/main" id="{8D64CD78-1CC6-43A9-8711-3A50ACE055AC}"/>
              </a:ext>
            </a:extLst>
          </p:cNvPr>
          <p:cNvSpPr>
            <a:spLocks xmlns:a="http://schemas.openxmlformats.org/drawingml/2006/main" noGrp="1"/>
          </p:cNvSpPr>
          <p:nvPr/>
        </p:nvSpPr>
        <p:spPr>
          <a:xfrm xmlns:a="http://schemas.openxmlformats.org/drawingml/2006/main">
            <a:off x="742950" y="198120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D6B62"/>
                </a:solidFill>
                <a:latin typeface="SF Pro Display"/>
                <a:ea typeface="SF Pro Display"/>
                <a:cs typeface="SF Pro Display"/>
              </a:defRPr>
            </a:defPPr>
          </a:lstStyle>
          <a:p xmlns:a="http://schemas.openxmlformats.org/drawingml/2006/main">
            <a:pPr>
              <a:buNone/>
              <a:defRPr sz="1950" b="0">
                <a:solidFill>
                  <a:srgbClr val="3D6B62"/>
                </a:solidFill>
                <a:latin typeface="SF Pro Display"/>
                <a:ea typeface="SF Pro Display"/>
                <a:cs typeface="SF Pro Display"/>
              </a:defRPr>
            </a:pPr>
            <a:r>
              <a:rPr sz="1950" b="0">
                <a:solidFill>
                  <a:srgbClr val="3D6B62"/>
                </a:solidFill>
                <a:latin typeface="SF Pro Display"/>
                <a:ea typeface="SF Pro Display"/>
                <a:cs typeface="SF Pro Display"/>
              </a:rPr>
              <a:t>01</a:t>
            </a:r>
          </a:p>
        </p:txBody>
      </p:sp>
      <p:sp>
        <p:nvSpPr>
          <p:cNvPr id="4" name="Agree on the biological observations">
            <a:extLst xmlns:a="http://schemas.openxmlformats.org/drawingml/2006/main">
              <a:ext uri="{FF2B5EF4-FFF2-40B4-BE49-F238E27FC236}">
                <a16:creationId xmlns:a16="http://schemas.microsoft.com/office/drawing/2014/main" id="{BB29277B-C769-4DBA-A3E3-0D930AF15255}"/>
              </a:ext>
            </a:extLst>
          </p:cNvPr>
          <p:cNvSpPr>
            <a:spLocks xmlns:a="http://schemas.openxmlformats.org/drawingml/2006/main" noGrp="1"/>
          </p:cNvSpPr>
          <p:nvPr/>
        </p:nvSpPr>
        <p:spPr>
          <a:xfrm xmlns:a="http://schemas.openxmlformats.org/drawingml/2006/main">
            <a:off x="1476375" y="19621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B2B"/>
                </a:solidFill>
                <a:latin typeface="SF Pro Display"/>
                <a:ea typeface="SF Pro Display"/>
                <a:cs typeface="SF Pro Display"/>
              </a:defRPr>
            </a:defPPr>
          </a:lstStyle>
          <a:p xmlns:a="http://schemas.openxmlformats.org/drawingml/2006/main">
            <a:pPr>
              <a:buNone/>
              <a:defRPr sz="2175" b="1">
                <a:solidFill>
                  <a:srgbClr val="202B2B"/>
                </a:solidFill>
                <a:latin typeface="SF Pro Display"/>
                <a:ea typeface="SF Pro Display"/>
                <a:cs typeface="SF Pro Display"/>
              </a:defRPr>
            </a:pPr>
            <a:r>
              <a:rPr sz="2175" b="1">
                <a:solidFill>
                  <a:srgbClr val="202B2B"/>
                </a:solidFill>
                <a:latin typeface="SF Pro Display"/>
                <a:ea typeface="SF Pro Display"/>
                <a:cs typeface="SF Pro Display"/>
              </a:rPr>
              <a:t>Agree on the biological observations</a:t>
            </a:r>
          </a:p>
        </p:txBody>
      </p:sp>
      <p:sp>
        <p:nvSpPr>
          <p:cNvPr id="5" name="Confirm species and farming method. Define how to recor">
            <a:extLst xmlns:a="http://schemas.openxmlformats.org/drawingml/2006/main">
              <a:ext uri="{FF2B5EF4-FFF2-40B4-BE49-F238E27FC236}">
                <a16:creationId xmlns:a16="http://schemas.microsoft.com/office/drawing/2014/main" id="{B27A2194-F75D-4714-A121-8704092E5FA0}"/>
              </a:ext>
            </a:extLst>
          </p:cNvPr>
          <p:cNvSpPr>
            <a:spLocks xmlns:a="http://schemas.openxmlformats.org/drawingml/2006/main" noGrp="1"/>
          </p:cNvSpPr>
          <p:nvPr/>
        </p:nvSpPr>
        <p:spPr>
          <a:xfrm xmlns:a="http://schemas.openxmlformats.org/drawingml/2006/main">
            <a:off x="1476375" y="244792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F6C69"/>
                </a:solidFill>
                <a:latin typeface="SF Pro Display"/>
                <a:ea typeface="SF Pro Display"/>
                <a:cs typeface="SF Pro Display"/>
              </a:defRPr>
            </a:defPPr>
          </a:lstStyle>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Confirm species and farming method. Define how to record</a:t>
            </a:r>
          </a:p>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paling, white or soft lesions, and fragmentation separately.</a:t>
            </a:r>
          </a:p>
        </p:txBody>
      </p:sp>
      <p:sp>
        <p:nvSpPr>
          <p:cNvPr id="6" name="02">
            <a:extLst xmlns:a="http://schemas.openxmlformats.org/drawingml/2006/main">
              <a:ext uri="{FF2B5EF4-FFF2-40B4-BE49-F238E27FC236}">
                <a16:creationId xmlns:a16="http://schemas.microsoft.com/office/drawing/2014/main" id="{EEFB5922-48DC-405B-9871-E68A5A33F148}"/>
              </a:ext>
            </a:extLst>
          </p:cNvPr>
          <p:cNvSpPr>
            <a:spLocks xmlns:a="http://schemas.openxmlformats.org/drawingml/2006/main" noGrp="1"/>
          </p:cNvSpPr>
          <p:nvPr/>
        </p:nvSpPr>
        <p:spPr>
          <a:xfrm xmlns:a="http://schemas.openxmlformats.org/drawingml/2006/main">
            <a:off x="742950" y="3362325"/>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D6B62"/>
                </a:solidFill>
                <a:latin typeface="SF Pro Display"/>
                <a:ea typeface="SF Pro Display"/>
                <a:cs typeface="SF Pro Display"/>
              </a:defRPr>
            </a:defPPr>
          </a:lstStyle>
          <a:p xmlns:a="http://schemas.openxmlformats.org/drawingml/2006/main">
            <a:pPr>
              <a:buNone/>
              <a:defRPr sz="1950" b="0">
                <a:solidFill>
                  <a:srgbClr val="3D6B62"/>
                </a:solidFill>
                <a:latin typeface="SF Pro Display"/>
                <a:ea typeface="SF Pro Display"/>
                <a:cs typeface="SF Pro Display"/>
              </a:defRPr>
            </a:pPr>
            <a:r>
              <a:rPr sz="1950" b="0">
                <a:solidFill>
                  <a:srgbClr val="3D6B62"/>
                </a:solidFill>
                <a:latin typeface="SF Pro Display"/>
                <a:ea typeface="SF Pro Display"/>
                <a:cs typeface="SF Pro Display"/>
              </a:rPr>
              <a:t>02</a:t>
            </a:r>
          </a:p>
        </p:txBody>
      </p:sp>
      <p:sp>
        <p:nvSpPr>
          <p:cNvPr id="7" name="Pair water conditions with crop checks">
            <a:extLst xmlns:a="http://schemas.openxmlformats.org/drawingml/2006/main">
              <a:ext uri="{FF2B5EF4-FFF2-40B4-BE49-F238E27FC236}">
                <a16:creationId xmlns:a16="http://schemas.microsoft.com/office/drawing/2014/main" id="{7B9EA931-DF56-4E13-8FE3-F7536B218C79}"/>
              </a:ext>
            </a:extLst>
          </p:cNvPr>
          <p:cNvSpPr>
            <a:spLocks xmlns:a="http://schemas.openxmlformats.org/drawingml/2006/main" noGrp="1"/>
          </p:cNvSpPr>
          <p:nvPr/>
        </p:nvSpPr>
        <p:spPr>
          <a:xfrm xmlns:a="http://schemas.openxmlformats.org/drawingml/2006/main">
            <a:off x="1476375" y="3343275"/>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B2B"/>
                </a:solidFill>
                <a:latin typeface="SF Pro Display"/>
                <a:ea typeface="SF Pro Display"/>
                <a:cs typeface="SF Pro Display"/>
              </a:defRPr>
            </a:defPPr>
          </a:lstStyle>
          <a:p xmlns:a="http://schemas.openxmlformats.org/drawingml/2006/main">
            <a:pPr>
              <a:buNone/>
              <a:defRPr sz="2175" b="1">
                <a:solidFill>
                  <a:srgbClr val="202B2B"/>
                </a:solidFill>
                <a:latin typeface="SF Pro Display"/>
                <a:ea typeface="SF Pro Display"/>
                <a:cs typeface="SF Pro Display"/>
              </a:defRPr>
            </a:pPr>
            <a:r>
              <a:rPr sz="2175" b="1">
                <a:solidFill>
                  <a:srgbClr val="202B2B"/>
                </a:solidFill>
                <a:latin typeface="SF Pro Display"/>
                <a:ea typeface="SF Pro Display"/>
                <a:cs typeface="SF Pro Display"/>
              </a:rPr>
              <a:t>Pair water conditions with crop checks</a:t>
            </a:r>
          </a:p>
        </p:txBody>
      </p:sp>
      <p:sp>
        <p:nvSpPr>
          <p:cNvPr id="8" name="Record time and crop depth. Inspect plots with and with">
            <a:extLst xmlns:a="http://schemas.openxmlformats.org/drawingml/2006/main">
              <a:ext uri="{FF2B5EF4-FFF2-40B4-BE49-F238E27FC236}">
                <a16:creationId xmlns:a16="http://schemas.microsoft.com/office/drawing/2014/main" id="{20EE7C57-E8A8-4194-B3E1-80BCC25B85A3}"/>
              </a:ext>
            </a:extLst>
          </p:cNvPr>
          <p:cNvSpPr>
            <a:spLocks xmlns:a="http://schemas.openxmlformats.org/drawingml/2006/main" noGrp="1"/>
          </p:cNvSpPr>
          <p:nvPr/>
        </p:nvSpPr>
        <p:spPr>
          <a:xfrm xmlns:a="http://schemas.openxmlformats.org/drawingml/2006/main">
            <a:off x="1476375" y="38290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F6C69"/>
                </a:solidFill>
                <a:latin typeface="SF Pro Display"/>
                <a:ea typeface="SF Pro Display"/>
                <a:cs typeface="SF Pro Display"/>
              </a:defRPr>
            </a:defPPr>
          </a:lstStyle>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Record time and crop depth. Inspect plots with and without</a:t>
            </a:r>
          </a:p>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warning signals, including plants without visible symptoms.</a:t>
            </a:r>
          </a:p>
        </p:txBody>
      </p:sp>
      <p:sp>
        <p:nvSpPr>
          <p:cNvPr id="9" name="03">
            <a:extLst xmlns:a="http://schemas.openxmlformats.org/drawingml/2006/main">
              <a:ext uri="{FF2B5EF4-FFF2-40B4-BE49-F238E27FC236}">
                <a16:creationId xmlns:a16="http://schemas.microsoft.com/office/drawing/2014/main" id="{CED511D1-97D5-46AC-AD6B-1F758F281897}"/>
              </a:ext>
            </a:extLst>
          </p:cNvPr>
          <p:cNvSpPr>
            <a:spLocks xmlns:a="http://schemas.openxmlformats.org/drawingml/2006/main" noGrp="1"/>
          </p:cNvSpPr>
          <p:nvPr/>
        </p:nvSpPr>
        <p:spPr>
          <a:xfrm xmlns:a="http://schemas.openxmlformats.org/drawingml/2006/main">
            <a:off x="742950" y="4743450"/>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D6B62"/>
                </a:solidFill>
                <a:latin typeface="SF Pro Display"/>
                <a:ea typeface="SF Pro Display"/>
                <a:cs typeface="SF Pro Display"/>
              </a:defRPr>
            </a:defPPr>
          </a:lstStyle>
          <a:p xmlns:a="http://schemas.openxmlformats.org/drawingml/2006/main">
            <a:pPr>
              <a:buNone/>
              <a:defRPr sz="1950" b="0">
                <a:solidFill>
                  <a:srgbClr val="3D6B62"/>
                </a:solidFill>
                <a:latin typeface="SF Pro Display"/>
                <a:ea typeface="SF Pro Display"/>
                <a:cs typeface="SF Pro Display"/>
              </a:defRPr>
            </a:pPr>
            <a:r>
              <a:rPr sz="1950" b="0">
                <a:solidFill>
                  <a:srgbClr val="3D6B62"/>
                </a:solidFill>
                <a:latin typeface="SF Pro Display"/>
                <a:ea typeface="SF Pro Display"/>
                <a:cs typeface="SF Pro Display"/>
              </a:rPr>
              <a:t>03</a:t>
            </a:r>
          </a:p>
        </p:txBody>
      </p:sp>
      <p:sp>
        <p:nvSpPr>
          <p:cNvPr id="10" name="Test whether the information helps">
            <a:extLst xmlns:a="http://schemas.openxmlformats.org/drawingml/2006/main">
              <a:ext uri="{FF2B5EF4-FFF2-40B4-BE49-F238E27FC236}">
                <a16:creationId xmlns:a16="http://schemas.microsoft.com/office/drawing/2014/main" id="{BD807350-B399-4C72-8B04-41CC9B5D69BB}"/>
              </a:ext>
            </a:extLst>
          </p:cNvPr>
          <p:cNvSpPr>
            <a:spLocks xmlns:a="http://schemas.openxmlformats.org/drawingml/2006/main" noGrp="1"/>
          </p:cNvSpPr>
          <p:nvPr/>
        </p:nvSpPr>
        <p:spPr>
          <a:xfrm xmlns:a="http://schemas.openxmlformats.org/drawingml/2006/main">
            <a:off x="1476375" y="472440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B2B"/>
                </a:solidFill>
                <a:latin typeface="SF Pro Display"/>
                <a:ea typeface="SF Pro Display"/>
                <a:cs typeface="SF Pro Display"/>
              </a:defRPr>
            </a:defPPr>
          </a:lstStyle>
          <a:p xmlns:a="http://schemas.openxmlformats.org/drawingml/2006/main">
            <a:pPr>
              <a:buNone/>
              <a:defRPr sz="2175" b="1">
                <a:solidFill>
                  <a:srgbClr val="202B2B"/>
                </a:solidFill>
                <a:latin typeface="SF Pro Display"/>
                <a:ea typeface="SF Pro Display"/>
                <a:cs typeface="SF Pro Display"/>
              </a:defRPr>
            </a:pPr>
            <a:r>
              <a:rPr sz="2175" b="1">
                <a:solidFill>
                  <a:srgbClr val="202B2B"/>
                </a:solidFill>
                <a:latin typeface="SF Pro Display"/>
                <a:ea typeface="SF Pro Display"/>
                <a:cs typeface="SF Pro Display"/>
              </a:rPr>
              <a:t>Test whether the information helps</a:t>
            </a:r>
          </a:p>
        </p:txBody>
      </p:sp>
      <p:sp>
        <p:nvSpPr>
          <p:cNvPr id="11" name="Compare with a simple baseline. Track missed events,&#10;fa">
            <a:extLst xmlns:a="http://schemas.openxmlformats.org/drawingml/2006/main">
              <a:ext uri="{FF2B5EF4-FFF2-40B4-BE49-F238E27FC236}">
                <a16:creationId xmlns:a16="http://schemas.microsoft.com/office/drawing/2014/main" id="{D99003C8-044E-4A5D-AD58-9AF780CCAD6E}"/>
              </a:ext>
            </a:extLst>
          </p:cNvPr>
          <p:cNvSpPr>
            <a:spLocks xmlns:a="http://schemas.openxmlformats.org/drawingml/2006/main" noGrp="1"/>
          </p:cNvSpPr>
          <p:nvPr/>
        </p:nvSpPr>
        <p:spPr>
          <a:xfrm xmlns:a="http://schemas.openxmlformats.org/drawingml/2006/main">
            <a:off x="1476375" y="52101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F6C69"/>
                </a:solidFill>
                <a:latin typeface="SF Pro Display"/>
                <a:ea typeface="SF Pro Display"/>
                <a:cs typeface="SF Pro Display"/>
              </a:defRPr>
            </a:defPPr>
          </a:lstStyle>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Compare with a simple baseline. Track missed events,</a:t>
            </a:r>
          </a:p>
          <a:p xmlns:a="http://schemas.openxmlformats.org/drawingml/2006/main">
            <a:pPr>
              <a:buNone/>
              <a:defRPr sz="1875" b="0">
                <a:solidFill>
                  <a:srgbClr val="5F6C69"/>
                </a:solidFill>
                <a:latin typeface="SF Pro Display"/>
                <a:ea typeface="SF Pro Display"/>
                <a:cs typeface="SF Pro Display"/>
              </a:defRPr>
            </a:pPr>
            <a:r>
              <a:rPr sz="1875" b="0">
                <a:solidFill>
                  <a:srgbClr val="5F6C69"/>
                </a:solidFill>
                <a:latin typeface="SF Pro Display"/>
                <a:ea typeface="SF Pro Display"/>
                <a:cs typeface="SF Pro Display"/>
              </a:rPr>
              <a:t>false alerts and whether advocates can act on the information.</a:t>
            </a:r>
          </a:p>
        </p:txBody>
      </p:sp>
    </p:spTree>
    <p:extLst>
      <p:ext uri="{BB962C8B-B14F-4D97-AF65-F5344CB8AC3E}">
        <p14:creationId xmlns:p14="http://schemas.microsoft.com/office/powerpoint/2010/main" val="1453162862"/>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Questions for Prof. Roleda">
            <a:extLst xmlns:a="http://schemas.openxmlformats.org/drawingml/2006/main">
              <a:ext uri="{FF2B5EF4-FFF2-40B4-BE49-F238E27FC236}">
                <a16:creationId xmlns:a16="http://schemas.microsoft.com/office/drawing/2014/main" id="{4F8D2812-548A-4A55-9019-9FDFA8E2ED99}"/>
              </a:ext>
            </a:extLst>
          </p:cNvPr>
          <p:cNvSpPr>
            <a:spLocks xmlns:a="http://schemas.openxmlformats.org/drawingml/2006/main" noGrp="1"/>
          </p:cNvSpPr>
          <p:nvPr/>
        </p:nvSpPr>
        <p:spPr>
          <a:xfrm xmlns:a="http://schemas.openxmlformats.org/drawingml/2006/main">
            <a:off x="723900" y="619125"/>
            <a:ext cx="10744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2B2B"/>
                </a:solidFill>
                <a:latin typeface="SF Pro Display"/>
                <a:ea typeface="SF Pro Display"/>
                <a:cs typeface="SF Pro Display"/>
              </a:defRPr>
            </a:defPPr>
          </a:lstStyle>
          <a:p xmlns:a="http://schemas.openxmlformats.org/drawingml/2006/main">
            <a:pPr>
              <a:buNone/>
              <a:defRPr sz="3450" b="1">
                <a:solidFill>
                  <a:srgbClr val="202B2B"/>
                </a:solidFill>
                <a:latin typeface="SF Pro Display"/>
                <a:ea typeface="SF Pro Display"/>
                <a:cs typeface="SF Pro Display"/>
              </a:defRPr>
            </a:pPr>
            <a:r>
              <a:rPr sz="3450" b="1">
                <a:solidFill>
                  <a:srgbClr val="202B2B"/>
                </a:solidFill>
                <a:latin typeface="SF Pro Display"/>
                <a:ea typeface="SF Pro Display"/>
                <a:cs typeface="SF Pro Display"/>
              </a:rPr>
              <a:t>Questions for Prof. Roleda</a:t>
            </a:r>
          </a:p>
        </p:txBody>
      </p:sp>
      <p:sp>
        <p:nvSpPr>
          <p:cNvPr id="2" name="08">
            <a:extLst xmlns:a="http://schemas.openxmlformats.org/drawingml/2006/main">
              <a:ext uri="{FF2B5EF4-FFF2-40B4-BE49-F238E27FC236}">
                <a16:creationId xmlns:a16="http://schemas.microsoft.com/office/drawing/2014/main" id="{E50100B0-99A0-4C95-97EF-06042C274C24}"/>
              </a:ext>
            </a:extLst>
          </p:cNvPr>
          <p:cNvSpPr>
            <a:spLocks xmlns:a="http://schemas.openxmlformats.org/drawingml/2006/main" noGrp="1"/>
          </p:cNvSpPr>
          <p:nvPr/>
        </p:nvSpPr>
        <p:spPr>
          <a:xfrm xmlns:a="http://schemas.openxmlformats.org/drawingml/2006/main">
            <a:off x="11068050" y="62674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8D9995"/>
                </a:solidFill>
                <a:latin typeface="SF Pro Display"/>
                <a:ea typeface="SF Pro Display"/>
                <a:cs typeface="SF Pro Display"/>
              </a:defRPr>
            </a:defPPr>
          </a:lstStyle>
          <a:p xmlns:a="http://schemas.openxmlformats.org/drawingml/2006/main">
            <a:pPr>
              <a:buNone/>
              <a:defRPr sz="1275" b="0">
                <a:solidFill>
                  <a:srgbClr val="8D9995"/>
                </a:solidFill>
                <a:latin typeface="SF Pro Display"/>
                <a:ea typeface="SF Pro Display"/>
                <a:cs typeface="SF Pro Display"/>
              </a:defRPr>
            </a:pPr>
            <a:r>
              <a:rPr sz="1275" b="0">
                <a:solidFill>
                  <a:srgbClr val="8D9995"/>
                </a:solidFill>
                <a:latin typeface="SF Pro Display"/>
                <a:ea typeface="SF Pro Display"/>
                <a:cs typeface="SF Pro Display"/>
              </a:rPr>
              <a:t>09</a:t>
            </a:r>
          </a:p>
        </p:txBody>
      </p:sp>
      <p:sp>
        <p:nvSpPr>
          <p:cNvPr id="3" name="01">
            <a:extLst xmlns:a="http://schemas.openxmlformats.org/drawingml/2006/main">
              <a:ext uri="{FF2B5EF4-FFF2-40B4-BE49-F238E27FC236}">
                <a16:creationId xmlns:a16="http://schemas.microsoft.com/office/drawing/2014/main" id="{616E0938-01C3-449C-A979-90F0C5A4828D}"/>
              </a:ext>
            </a:extLst>
          </p:cNvPr>
          <p:cNvSpPr>
            <a:spLocks xmlns:a="http://schemas.openxmlformats.org/drawingml/2006/main" noGrp="1"/>
          </p:cNvSpPr>
          <p:nvPr/>
        </p:nvSpPr>
        <p:spPr>
          <a:xfrm xmlns:a="http://schemas.openxmlformats.org/drawingml/2006/main">
            <a:off x="762000" y="2047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D6B62"/>
                </a:solidFill>
                <a:latin typeface="SF Pro Display"/>
                <a:ea typeface="SF Pro Display"/>
                <a:cs typeface="SF Pro Display"/>
              </a:defRPr>
            </a:defPPr>
          </a:lstStyle>
          <a:p xmlns:a="http://schemas.openxmlformats.org/drawingml/2006/main">
            <a:pPr>
              <a:buNone/>
              <a:defRPr sz="1800" b="0">
                <a:solidFill>
                  <a:srgbClr val="3D6B62"/>
                </a:solidFill>
                <a:latin typeface="SF Pro Display"/>
                <a:ea typeface="SF Pro Display"/>
                <a:cs typeface="SF Pro Display"/>
              </a:defRPr>
            </a:pPr>
            <a:r>
              <a:rPr sz="1800" b="0">
                <a:solidFill>
                  <a:srgbClr val="3D6B62"/>
                </a:solidFill>
                <a:latin typeface="SF Pro Display"/>
                <a:ea typeface="SF Pro Display"/>
                <a:cs typeface="SF Pro Display"/>
              </a:rPr>
              <a:t>01</a:t>
            </a:r>
          </a:p>
        </p:txBody>
      </p:sp>
      <p:sp>
        <p:nvSpPr>
          <p:cNvPr id="4" name="Which observations would best distinguish&#10;ice-ice from ">
            <a:extLst xmlns:a="http://schemas.openxmlformats.org/drawingml/2006/main">
              <a:ext uri="{FF2B5EF4-FFF2-40B4-BE49-F238E27FC236}">
                <a16:creationId xmlns:a16="http://schemas.microsoft.com/office/drawing/2014/main" id="{7156E65F-3C31-4AC0-A0C3-B9977B46E9C2}"/>
              </a:ext>
            </a:extLst>
          </p:cNvPr>
          <p:cNvSpPr>
            <a:spLocks xmlns:a="http://schemas.openxmlformats.org/drawingml/2006/main" noGrp="1"/>
          </p:cNvSpPr>
          <p:nvPr/>
        </p:nvSpPr>
        <p:spPr>
          <a:xfrm xmlns:a="http://schemas.openxmlformats.org/drawingml/2006/main">
            <a:off x="1476375" y="2000250"/>
            <a:ext cx="976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2B2B"/>
                </a:solidFill>
                <a:latin typeface="SF Pro Display"/>
                <a:ea typeface="SF Pro Display"/>
                <a:cs typeface="SF Pro Display"/>
              </a:defRPr>
            </a:defPPr>
          </a:lstStyle>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Which observations would best distinguish</a:t>
            </a:r>
          </a:p>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ice-ice from other forms of stress or damage?</a:t>
            </a:r>
          </a:p>
        </p:txBody>
      </p:sp>
      <p:sp>
        <p:nvSpPr>
          <p:cNvPr id="5" name="02">
            <a:extLst xmlns:a="http://schemas.openxmlformats.org/drawingml/2006/main">
              <a:ext uri="{FF2B5EF4-FFF2-40B4-BE49-F238E27FC236}">
                <a16:creationId xmlns:a16="http://schemas.microsoft.com/office/drawing/2014/main" id="{3AFC5F2B-75F1-41D5-B06E-7EC2831C564D}"/>
              </a:ext>
            </a:extLst>
          </p:cNvPr>
          <p:cNvSpPr>
            <a:spLocks xmlns:a="http://schemas.openxmlformats.org/drawingml/2006/main" noGrp="1"/>
          </p:cNvSpPr>
          <p:nvPr/>
        </p:nvSpPr>
        <p:spPr>
          <a:xfrm xmlns:a="http://schemas.openxmlformats.org/drawingml/2006/main">
            <a:off x="762000" y="29813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D6B62"/>
                </a:solidFill>
                <a:latin typeface="SF Pro Display"/>
                <a:ea typeface="SF Pro Display"/>
                <a:cs typeface="SF Pro Display"/>
              </a:defRPr>
            </a:defPPr>
          </a:lstStyle>
          <a:p xmlns:a="http://schemas.openxmlformats.org/drawingml/2006/main">
            <a:pPr>
              <a:buNone/>
              <a:defRPr sz="1800" b="0">
                <a:solidFill>
                  <a:srgbClr val="3D6B62"/>
                </a:solidFill>
                <a:latin typeface="SF Pro Display"/>
                <a:ea typeface="SF Pro Display"/>
                <a:cs typeface="SF Pro Display"/>
              </a:defRPr>
            </a:pPr>
            <a:r>
              <a:rPr sz="1800" b="0">
                <a:solidFill>
                  <a:srgbClr val="3D6B62"/>
                </a:solidFill>
                <a:latin typeface="SF Pro Display"/>
                <a:ea typeface="SF Pro Display"/>
                <a:cs typeface="SF Pro Display"/>
              </a:rPr>
              <a:t>02</a:t>
            </a:r>
          </a:p>
        </p:txBody>
      </p:sp>
      <p:sp>
        <p:nvSpPr>
          <p:cNvPr id="6" name="Which variables would you prioritise&#10;for a small field ">
            <a:extLst xmlns:a="http://schemas.openxmlformats.org/drawingml/2006/main">
              <a:ext uri="{FF2B5EF4-FFF2-40B4-BE49-F238E27FC236}">
                <a16:creationId xmlns:a16="http://schemas.microsoft.com/office/drawing/2014/main" id="{C3BDB6E7-F354-4925-BEFB-86A96D26FB95}"/>
              </a:ext>
            </a:extLst>
          </p:cNvPr>
          <p:cNvSpPr>
            <a:spLocks xmlns:a="http://schemas.openxmlformats.org/drawingml/2006/main" noGrp="1"/>
          </p:cNvSpPr>
          <p:nvPr/>
        </p:nvSpPr>
        <p:spPr>
          <a:xfrm xmlns:a="http://schemas.openxmlformats.org/drawingml/2006/main">
            <a:off x="1476375" y="2933700"/>
            <a:ext cx="976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2B2B"/>
                </a:solidFill>
                <a:latin typeface="SF Pro Display"/>
                <a:ea typeface="SF Pro Display"/>
                <a:cs typeface="SF Pro Display"/>
              </a:defRPr>
            </a:defPPr>
          </a:lstStyle>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Which variables would you prioritise</a:t>
            </a:r>
          </a:p>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for a small field study?</a:t>
            </a:r>
          </a:p>
        </p:txBody>
      </p:sp>
      <p:sp>
        <p:nvSpPr>
          <p:cNvPr id="7" name="03">
            <a:extLst xmlns:a="http://schemas.openxmlformats.org/drawingml/2006/main">
              <a:ext uri="{FF2B5EF4-FFF2-40B4-BE49-F238E27FC236}">
                <a16:creationId xmlns:a16="http://schemas.microsoft.com/office/drawing/2014/main" id="{46C14072-5A9C-4952-8D19-2D99C02C4267}"/>
              </a:ext>
            </a:extLst>
          </p:cNvPr>
          <p:cNvSpPr>
            <a:spLocks xmlns:a="http://schemas.openxmlformats.org/drawingml/2006/main" noGrp="1"/>
          </p:cNvSpPr>
          <p:nvPr/>
        </p:nvSpPr>
        <p:spPr>
          <a:xfrm xmlns:a="http://schemas.openxmlformats.org/drawingml/2006/main">
            <a:off x="762000" y="39147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D6B62"/>
                </a:solidFill>
                <a:latin typeface="SF Pro Display"/>
                <a:ea typeface="SF Pro Display"/>
                <a:cs typeface="SF Pro Display"/>
              </a:defRPr>
            </a:defPPr>
          </a:lstStyle>
          <a:p xmlns:a="http://schemas.openxmlformats.org/drawingml/2006/main">
            <a:pPr>
              <a:buNone/>
              <a:defRPr sz="1800" b="0">
                <a:solidFill>
                  <a:srgbClr val="3D6B62"/>
                </a:solidFill>
                <a:latin typeface="SF Pro Display"/>
                <a:ea typeface="SF Pro Display"/>
                <a:cs typeface="SF Pro Display"/>
              </a:defRPr>
            </a:pPr>
            <a:r>
              <a:rPr sz="1800" b="0">
                <a:solidFill>
                  <a:srgbClr val="3D6B62"/>
                </a:solidFill>
                <a:latin typeface="SF Pro Display"/>
                <a:ea typeface="SF Pro Display"/>
                <a:cs typeface="SF Pro Display"/>
              </a:rPr>
              <a:t>03</a:t>
            </a:r>
          </a:p>
        </p:txBody>
      </p:sp>
      <p:sp>
        <p:nvSpPr>
          <p:cNvPr id="8" name="What sampling schedule and study duration&#10;would capture">
            <a:extLst xmlns:a="http://schemas.openxmlformats.org/drawingml/2006/main">
              <a:ext uri="{FF2B5EF4-FFF2-40B4-BE49-F238E27FC236}">
                <a16:creationId xmlns:a16="http://schemas.microsoft.com/office/drawing/2014/main" id="{8E545912-18F2-4C21-B532-3021C174B11E}"/>
              </a:ext>
            </a:extLst>
          </p:cNvPr>
          <p:cNvSpPr>
            <a:spLocks xmlns:a="http://schemas.openxmlformats.org/drawingml/2006/main" noGrp="1"/>
          </p:cNvSpPr>
          <p:nvPr/>
        </p:nvSpPr>
        <p:spPr>
          <a:xfrm xmlns:a="http://schemas.openxmlformats.org/drawingml/2006/main">
            <a:off x="1476375" y="3867150"/>
            <a:ext cx="976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2B2B"/>
                </a:solidFill>
                <a:latin typeface="SF Pro Display"/>
                <a:ea typeface="SF Pro Display"/>
                <a:cs typeface="SF Pro Display"/>
              </a:defRPr>
            </a:defPPr>
          </a:lstStyle>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What sampling schedule and study duration</a:t>
            </a:r>
          </a:p>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would capture meaningful changes?</a:t>
            </a:r>
          </a:p>
        </p:txBody>
      </p:sp>
      <p:sp>
        <p:nvSpPr>
          <p:cNvPr id="9" name="04">
            <a:extLst xmlns:a="http://schemas.openxmlformats.org/drawingml/2006/main">
              <a:ext uri="{FF2B5EF4-FFF2-40B4-BE49-F238E27FC236}">
                <a16:creationId xmlns:a16="http://schemas.microsoft.com/office/drawing/2014/main" id="{C2E472B8-8D25-483F-A183-BC86CBFC6D63}"/>
              </a:ext>
            </a:extLst>
          </p:cNvPr>
          <p:cNvSpPr>
            <a:spLocks xmlns:a="http://schemas.openxmlformats.org/drawingml/2006/main" noGrp="1"/>
          </p:cNvSpPr>
          <p:nvPr/>
        </p:nvSpPr>
        <p:spPr>
          <a:xfrm xmlns:a="http://schemas.openxmlformats.org/drawingml/2006/main">
            <a:off x="762000" y="48482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D6B62"/>
                </a:solidFill>
                <a:latin typeface="SF Pro Display"/>
                <a:ea typeface="SF Pro Display"/>
                <a:cs typeface="SF Pro Display"/>
              </a:defRPr>
            </a:defPPr>
          </a:lstStyle>
          <a:p xmlns:a="http://schemas.openxmlformats.org/drawingml/2006/main">
            <a:pPr>
              <a:buNone/>
              <a:defRPr sz="1800" b="0">
                <a:solidFill>
                  <a:srgbClr val="3D6B62"/>
                </a:solidFill>
                <a:latin typeface="SF Pro Display"/>
                <a:ea typeface="SF Pro Display"/>
                <a:cs typeface="SF Pro Display"/>
              </a:defRPr>
            </a:pPr>
            <a:r>
              <a:rPr sz="1800" b="0">
                <a:solidFill>
                  <a:srgbClr val="3D6B62"/>
                </a:solidFill>
                <a:latin typeface="SF Pro Display"/>
                <a:ea typeface="SF Pro Display"/>
                <a:cs typeface="SF Pro Display"/>
              </a:rPr>
              <a:t>04</a:t>
            </a:r>
          </a:p>
        </p:txBody>
      </p:sp>
      <p:sp>
        <p:nvSpPr>
          <p:cNvPr id="10" name="What evidence would justify an early warning&#10;and a usef">
            <a:extLst xmlns:a="http://schemas.openxmlformats.org/drawingml/2006/main">
              <a:ext uri="{FF2B5EF4-FFF2-40B4-BE49-F238E27FC236}">
                <a16:creationId xmlns:a16="http://schemas.microsoft.com/office/drawing/2014/main" id="{AF4E35C5-AAF6-479F-89F3-5EE719E82A48}"/>
              </a:ext>
            </a:extLst>
          </p:cNvPr>
          <p:cNvSpPr>
            <a:spLocks xmlns:a="http://schemas.openxmlformats.org/drawingml/2006/main" noGrp="1"/>
          </p:cNvSpPr>
          <p:nvPr/>
        </p:nvSpPr>
        <p:spPr>
          <a:xfrm xmlns:a="http://schemas.openxmlformats.org/drawingml/2006/main">
            <a:off x="1476375" y="4800600"/>
            <a:ext cx="976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2B2B"/>
                </a:solidFill>
                <a:latin typeface="SF Pro Display"/>
                <a:ea typeface="SF Pro Display"/>
                <a:cs typeface="SF Pro Display"/>
              </a:defRPr>
            </a:defPPr>
          </a:lstStyle>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What evidence would justify an early warning</a:t>
            </a:r>
          </a:p>
          <a:p xmlns:a="http://schemas.openxmlformats.org/drawingml/2006/main">
            <a:pPr>
              <a:buNone/>
              <a:defRPr sz="2175" b="0">
                <a:solidFill>
                  <a:srgbClr val="202B2B"/>
                </a:solidFill>
                <a:latin typeface="SF Pro Display"/>
                <a:ea typeface="SF Pro Display"/>
                <a:cs typeface="SF Pro Display"/>
              </a:defRPr>
            </a:pPr>
            <a:r>
              <a:rPr sz="2175" b="0">
                <a:solidFill>
                  <a:srgbClr val="202B2B"/>
                </a:solidFill>
                <a:latin typeface="SF Pro Display"/>
                <a:ea typeface="SF Pro Display"/>
                <a:cs typeface="SF Pro Display"/>
              </a:rPr>
              <a:t>and a useful action for farmers?</a:t>
            </a:r>
          </a:p>
        </p:txBody>
      </p:sp>
      <p:sp>
        <p:nvSpPr>
          <p:cNvPr id="11" name="We would value your guidance on the biology and the stu">
            <a:extLst xmlns:a="http://schemas.openxmlformats.org/drawingml/2006/main">
              <a:ext uri="{FF2B5EF4-FFF2-40B4-BE49-F238E27FC236}">
                <a16:creationId xmlns:a16="http://schemas.microsoft.com/office/drawing/2014/main" id="{E99161E4-AF3F-4EDF-9E21-6DAE00B1DD31}"/>
              </a:ext>
            </a:extLst>
          </p:cNvPr>
          <p:cNvSpPr>
            <a:spLocks xmlns:a="http://schemas.openxmlformats.org/drawingml/2006/main" noGrp="1"/>
          </p:cNvSpPr>
          <p:nvPr/>
        </p:nvSpPr>
        <p:spPr>
          <a:xfrm xmlns:a="http://schemas.openxmlformats.org/drawingml/2006/main">
            <a:off x="762000" y="60960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D6B62"/>
                </a:solidFill>
                <a:latin typeface="SF Pro Display"/>
                <a:ea typeface="SF Pro Display"/>
                <a:cs typeface="SF Pro Display"/>
              </a:defRPr>
            </a:defPPr>
          </a:lstStyle>
          <a:p xmlns:a="http://schemas.openxmlformats.org/drawingml/2006/main">
            <a:pPr>
              <a:buNone/>
              <a:defRPr sz="1725" b="0">
                <a:solidFill>
                  <a:srgbClr val="3D6B62"/>
                </a:solidFill>
                <a:latin typeface="SF Pro Display"/>
                <a:ea typeface="SF Pro Display"/>
                <a:cs typeface="SF Pro Display"/>
              </a:defRPr>
            </a:pPr>
            <a:r>
              <a:rPr sz="1725" b="0">
                <a:solidFill>
                  <a:srgbClr val="3D6B62"/>
                </a:solidFill>
                <a:latin typeface="SF Pro Display"/>
                <a:ea typeface="SF Pro Display"/>
                <a:cs typeface="SF Pro Display"/>
              </a:rPr>
              <a:t>We would value your guidance on the biology and the study design.</a:t>
            </a:r>
          </a:p>
        </p:txBody>
      </p:sp>
    </p:spTree>
    <p:extLst>
      <p:ext uri="{BB962C8B-B14F-4D97-AF65-F5344CB8AC3E}">
        <p14:creationId xmlns:p14="http://schemas.microsoft.com/office/powerpoint/2010/main" val="2081653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F Pro Display"/>
        <a:ea typeface="SF Pro Display"/>
        <a:cs typeface="SF Pro Display"/>
      </a:majorFont>
      <a:minorFont>
        <a:latin typeface="SF Pro Display"/>
        <a:ea typeface="SF Pro Display"/>
        <a:cs typeface="SF Pro Display"/>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2026-10-16T07:10:24.2590000Z</dcterms:created>
  <dcterms:modified xsi:type="dcterms:W3CDTF">2026-10-16T07:10:24.2590000Z</dcterms:modified>
</coreProperties>
</file>